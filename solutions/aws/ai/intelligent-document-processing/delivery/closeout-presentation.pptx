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bin" ContentType="image/unknown"/>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7"/>
    <p:sldId id="257" r:id="rId8"/>
    <p:sldId id="258" r:id="rId6"/>
    <p:sldId id="259" r:id="rId5"/>
    <p:sldId id="260" r:id="rId4"/>
    <p:sldId id="261" r:id="rId3"/>
    <p:sldId id="262" r:id="rId2"/>
    <p:sldId id="263" r:id="rId14"/>
    <p:sldId id="264" r:id="rId15"/>
    <p:sldId id="265" r:id="rId1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01C0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35" d="100"/>
          <a:sy n="135" d="100"/>
        </p:scale>
        <p:origin x="380" y="308"/>
      </p:cViewPr>
      <p:guideLst/>
    </p:cSldViewPr>
  </p:slideViewPr>
  <p:notesTextViewPr>
    <p:cViewPr>
      <p:scale>
        <a:sx n="1" d="1"/>
        <a:sy n="1" d="1"/>
      </p:scale>
      <p:origin x="0" y="0"/>
    </p:cViewPr>
  </p:notesTextViewPr>
  <p:notesViewPr>
    <p:cSldViewPr snapToGrid="0" snapToObjects="1">
      <p:cViewPr varScale="1">
        <p:scale>
          <a:sx n="83" d="100"/>
          <a:sy n="83" d="100"/>
        </p:scale>
        <p:origin x="3732" y="76"/>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7.xml"/><Relationship Id="rId3" Type="http://schemas.openxmlformats.org/officeDocument/2006/relationships/slide" Target="slides/slide6.xml"/><Relationship Id="rId4" Type="http://schemas.openxmlformats.org/officeDocument/2006/relationships/slide" Target="slides/slide5.xml"/><Relationship Id="rId5" Type="http://schemas.openxmlformats.org/officeDocument/2006/relationships/slide" Target="slides/slide4.xml"/><Relationship Id="rId6" Type="http://schemas.openxmlformats.org/officeDocument/2006/relationships/slide" Target="slides/slide3.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endParaRPr lang="en-US"/>
          </a:p>
        </p:txBody>
      </p:sp>
    </p:spTree>
    <p:extLst>
      <p:ext uri="{BB962C8B-B14F-4D97-AF65-F5344CB8AC3E}">
        <p14:creationId xmlns:p14="http://schemas.microsoft.com/office/powerpoint/2010/main" val="2901673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*Opening Statement:*</a:t>
            </a:r>
          </a:p>
          <a:p>
            <a:r>
              <a:t>Good [morning/afternoon]. Today we're celebrating the successful completion of the AWS Intelligent Document Processing implementation. This project has transformed [Client Name]'s document processing from a manual bottleneck into an automated, AI-powered workflow.</a:t>
            </a:r>
          </a:p>
          <a:p/>
          <a:p>
            <a:r>
              <a:t>*Key Talking Points - Expand on Each Bullet:*</a:t>
            </a:r>
          </a:p>
          <a:p/>
          <a:p>
            <a:r>
              <a:t>**Project Duration - 6 Months:**</a:t>
            </a:r>
          </a:p>
          <a:p>
            <a:r>
              <a:t>- We executed exactly as planned in the Statement of Work</a:t>
            </a:r>
          </a:p>
          <a:p>
            <a:r>
              <a:t>- Phase 1 (Pilot): Months 1-2 - Single document type validated</a:t>
            </a:r>
          </a:p>
          <a:p>
            <a:r>
              <a:t>- Phase 2 (Expansion): Months 3-4 - Extended to all document types, integrations live</a:t>
            </a:r>
          </a:p>
          <a:p>
            <a:r>
              <a:t>- Phase 3 (Optimization): Months 5-6 - Fine-tuning, training, handoff complete</a:t>
            </a:r>
          </a:p>
          <a:p>
            <a:r>
              <a:t>- No schedule slippage despite two change requests processed</a:t>
            </a:r>
          </a:p>
          <a:p/>
          <a:p>
            <a:r>
              <a:t>**Budget - $115,951 Year 1:**</a:t>
            </a:r>
          </a:p>
          <a:p>
            <a:r>
              <a:t>- Professional Services: $82,250 (310 hours as quoted)</a:t>
            </a:r>
          </a:p>
          <a:p>
            <a:r>
              <a:t>- AWS Cloud Services: $21,830 (after $5,000 AI services credit applied)</a:t>
            </a:r>
          </a:p>
          <a:p>
            <a:r>
              <a:t>- Software Licenses: $2,784 (A2I, Datadog, PagerDuty)</a:t>
            </a:r>
          </a:p>
          <a:p>
            <a:r>
              <a:t>- Support &amp; Maintenance: $4,087</a:t>
            </a:r>
          </a:p>
          <a:p>
            <a:r>
              <a:t>- AWS Partner Credits: $15,000 total applied ($10K services + $5K Textract)</a:t>
            </a:r>
          </a:p>
          <a:p>
            <a:r>
              <a:t>- Actual spend: $115,892 - $59 under budget</a:t>
            </a:r>
          </a:p>
          <a:p/>
          <a:p>
            <a:r>
              <a:t>**Go-Live - Week 15:**</a:t>
            </a:r>
          </a:p>
          <a:p>
            <a:r>
              <a:t>- Followed parallel processing cutover strategy exactly as planned</a:t>
            </a:r>
          </a:p>
          <a:p>
            <a:r>
              <a:t>- Week 1: Pilot with 50-100 documents alongside manual</a:t>
            </a:r>
          </a:p>
          <a:p>
            <a:r>
              <a:t>- Week 2: Shadow processing - all documents through both systems</a:t>
            </a:r>
          </a:p>
          <a:p>
            <a:r>
              <a:t>- Week 3: 25% automated, 75% manual</a:t>
            </a:r>
          </a:p>
          <a:p>
            <a:r>
              <a:t>- Week 4: 75% automated, 25% manual</a:t>
            </a:r>
          </a:p>
          <a:p>
            <a:r>
              <a:t>- Week 5: Full cutover to 100% automated with manual fallback</a:t>
            </a:r>
          </a:p>
          <a:p>
            <a:r>
              <a:t>- Zero rollback events required</a:t>
            </a:r>
          </a:p>
          <a:p/>
          <a:p>
            <a:r>
              <a:t>**Quality - Zero Critical Defects:**</a:t>
            </a:r>
          </a:p>
          <a:p>
            <a:r>
              <a:t>- 847 test cases executed, 100% pass rate</a:t>
            </a:r>
          </a:p>
          <a:p>
            <a:r>
              <a:t>- No P1 or P2 defects at go-live</a:t>
            </a:r>
          </a:p>
          <a:p>
            <a:r>
              <a:t>- 3 P3 defects identified and resolved during hypercare</a:t>
            </a:r>
          </a:p>
          <a:p>
            <a:r>
              <a:t>- Defect escape rate: 0.35% (target &lt;2%)</a:t>
            </a:r>
          </a:p>
          <a:p/>
          <a:p>
            <a:r>
              <a:t>**Processing Time - 90% Reduction:**</a:t>
            </a:r>
          </a:p>
          <a:p>
            <a:r>
              <a:t>- Baseline (manual): 15-20 minutes per document average</a:t>
            </a:r>
          </a:p>
          <a:p>
            <a:r>
              <a:t>- Current (automated): 90 seconds average end-to-end</a:t>
            </a:r>
          </a:p>
          <a:p>
            <a:r>
              <a:t>- Exceeds 80-90% target in SOW</a:t>
            </a:r>
          </a:p>
          <a:p>
            <a:r>
              <a:t>- Peak processing: 45 seconds for simple documents</a:t>
            </a:r>
          </a:p>
          <a:p/>
          <a:p>
            <a:r>
              <a:t>**Extraction Accuracy - 96.2%:**</a:t>
            </a:r>
          </a:p>
          <a:p>
            <a:r>
              <a:t>- Target was 95%+ per SOW</a:t>
            </a:r>
          </a:p>
          <a:p>
            <a:r>
              <a:t>- Invoice accuracy: 97.1%</a:t>
            </a:r>
          </a:p>
          <a:p>
            <a:r>
              <a:t>- Purchase Order accuracy: 95.8%</a:t>
            </a:r>
          </a:p>
          <a:p>
            <a:r>
              <a:t>- Contracts accuracy: 95.4%</a:t>
            </a:r>
          </a:p>
          <a:p>
            <a:r>
              <a:t>- Validated against 2,500 document test dataset</a:t>
            </a:r>
          </a:p>
          <a:p/>
          <a:p>
            <a:r>
              <a:t>**ROI - 12-Month Payback:**</a:t>
            </a:r>
          </a:p>
          <a:p>
            <a:r>
              <a:t>- Annual labor savings: $96,000 (2 FTEs @ $48K reallocated)</a:t>
            </a:r>
          </a:p>
          <a:p>
            <a:r>
              <a:t>- Error reduction savings: $24,000/year (rework, corrections)</a:t>
            </a:r>
          </a:p>
          <a:p>
            <a:r>
              <a:t>- Productivity gains: Additional 1,000 documents/month capacity</a:t>
            </a:r>
          </a:p>
          <a:p>
            <a:r>
              <a:t>- Total Year 1 benefit: $120,000 vs $115,951 investment</a:t>
            </a:r>
          </a:p>
          <a:p>
            <a:r>
              <a:t>- 3-year projected savings: $360,000 vs $168,353 TCO</a:t>
            </a:r>
          </a:p>
          <a:p/>
          <a:p>
            <a:r>
              <a:t>*Transition to Next Slide:*</a:t>
            </a:r>
          </a:p>
          <a:p>
            <a:r>
              <a:t>"Let me walk you through exactly what we built together..."</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*Architecture Overview - Walk Through the Diagram:*</a:t>
            </a:r>
          </a:p>
          <a:p/>
          <a:p>
            <a:r>
              <a:t>"This diagram shows the production architecture we deployed. Let me walk through the document flow..."</a:t>
            </a:r>
          </a:p>
          <a:p/>
          <a:p>
            <a:r>
              <a:t>**Document Ingestion Layer:**</a:t>
            </a:r>
          </a:p>
          <a:p>
            <a:r>
              <a:t>- Documents enter via two channels as specified in SOW:</a:t>
            </a:r>
          </a:p>
          <a:p>
            <a:r>
              <a:t>  1. S3 bucket upload (batch processing for high-volume periods)</a:t>
            </a:r>
          </a:p>
          <a:p>
            <a:r>
              <a:t>  2. API Gateway (real-time submission from web interface)</a:t>
            </a:r>
          </a:p>
          <a:p>
            <a:r>
              <a:t>- Supported formats: PDF, JPEG, PNG, TIFF</a:t>
            </a:r>
          </a:p>
          <a:p>
            <a:r>
              <a:t>- Maximum document size: 10MB (Textract limit)</a:t>
            </a:r>
          </a:p>
          <a:p>
            <a:r>
              <a:t>- Documents immediately encrypted with KMS (SSE-S3)</a:t>
            </a:r>
          </a:p>
          <a:p/>
          <a:p>
            <a:r>
              <a:t>**AI/ML Processing Layer - Amazon Textract:**</a:t>
            </a:r>
          </a:p>
          <a:p>
            <a:r>
              <a:t>- Primary OCR and intelligent extraction engine</a:t>
            </a:r>
          </a:p>
          <a:p>
            <a:r>
              <a:t>- Using AnalyzeDocument API for forms and tables</a:t>
            </a:r>
          </a:p>
          <a:p>
            <a:r>
              <a:t>- Synchronous processing for documents &lt;5 pages</a:t>
            </a:r>
          </a:p>
          <a:p>
            <a:r>
              <a:t>- Asynchronous processing for larger documents</a:t>
            </a:r>
          </a:p>
          <a:p>
            <a:r>
              <a:t>- Current accuracy: 96.2% across all document types</a:t>
            </a:r>
          </a:p>
          <a:p>
            <a:r>
              <a:t>- Extracts: text, key-value pairs, tables, signatures</a:t>
            </a:r>
          </a:p>
          <a:p/>
          <a:p>
            <a:r>
              <a:t>**AI/ML Processing Layer - Amazon Comprehend:**</a:t>
            </a:r>
          </a:p>
          <a:p>
            <a:r>
              <a:t>- Entity recognition for business data extraction</a:t>
            </a:r>
          </a:p>
          <a:p>
            <a:r>
              <a:t>- Detecting: dates, amounts, organization names, addresses</a:t>
            </a:r>
          </a:p>
          <a:p>
            <a:r>
              <a:t>- Custom entity recognition trained on client document patterns</a:t>
            </a:r>
          </a:p>
          <a:p>
            <a:r>
              <a:t>- PII detection enabled for compliance (SSN, account numbers)</a:t>
            </a:r>
          </a:p>
          <a:p>
            <a:r>
              <a:t>- Confidence scoring enables routing decisions</a:t>
            </a:r>
          </a:p>
          <a:p/>
          <a:p>
            <a:r>
              <a:t>**Human Review - Amazon A2I:**</a:t>
            </a:r>
          </a:p>
          <a:p>
            <a:r>
              <a:t>- Documents with confidence &lt;85% routed to human review</a:t>
            </a:r>
          </a:p>
          <a:p>
            <a:r>
              <a:t>- Currently ~15% of documents require human review</a:t>
            </a:r>
          </a:p>
          <a:p>
            <a:r>
              <a:t>- Average review time: 2 minutes per document</a:t>
            </a:r>
          </a:p>
          <a:p>
            <a:r>
              <a:t>- Reviewer corrections feed back to improve accuracy</a:t>
            </a:r>
          </a:p>
          <a:p>
            <a:r>
              <a:t>- Three reviewer roles configured: Submitter, Reviewer, Admin</a:t>
            </a:r>
          </a:p>
          <a:p/>
          <a:p>
            <a:r>
              <a:t>**Orchestration - Step Functions:**</a:t>
            </a:r>
          </a:p>
          <a:p>
            <a:r>
              <a:t>- State machine coordinates entire workflow</a:t>
            </a:r>
          </a:p>
          <a:p>
            <a:r>
              <a:t>- Handles retries, error states, parallel processing</a:t>
            </a:r>
          </a:p>
          <a:p>
            <a:r>
              <a:t>- Current workflow states:</a:t>
            </a:r>
          </a:p>
          <a:p>
            <a:r>
              <a:t>  1. Validate Document → 2. Textract OCR → 3. Comprehend NLP</a:t>
            </a:r>
          </a:p>
          <a:p>
            <a:r>
              <a:t>  4. Confidence Check → 5. Route (Auto/Human) → 6. Integration</a:t>
            </a:r>
          </a:p>
          <a:p>
            <a:r>
              <a:t>- Average execution time: 90 seconds end-to-end</a:t>
            </a:r>
          </a:p>
          <a:p/>
          <a:p>
            <a:r>
              <a:t>**Storage Layer:**</a:t>
            </a:r>
          </a:p>
          <a:p>
            <a:r>
              <a:t>- S3: Document storage with lifecycle policies</a:t>
            </a:r>
          </a:p>
          <a:p>
            <a:r>
              <a:t>  - Hot: 30 days in S3 Standard</a:t>
            </a:r>
          </a:p>
          <a:p>
            <a:r>
              <a:t>  - Warm: 30-90 days in S3 Standard-IA</a:t>
            </a:r>
          </a:p>
          <a:p>
            <a:r>
              <a:t>  - Cold: 90+ days in S3 Glacier (7-year retention)</a:t>
            </a:r>
          </a:p>
          <a:p>
            <a:r>
              <a:t>- DynamoDB: Metadata and processing state</a:t>
            </a:r>
          </a:p>
          <a:p>
            <a:r>
              <a:t>  - On-demand capacity mode</a:t>
            </a:r>
          </a:p>
          <a:p>
            <a:r>
              <a:t>  - Point-in-time recovery enabled</a:t>
            </a:r>
          </a:p>
          <a:p>
            <a:r>
              <a:t>  - ~50GB current storage</a:t>
            </a:r>
          </a:p>
          <a:p/>
          <a:p>
            <a:r>
              <a:t>**Integration Layer - 2 REST APIs:**</a:t>
            </a:r>
          </a:p>
          <a:p>
            <a:r>
              <a:t>- Integration 1: ERP System (SAP)</a:t>
            </a:r>
          </a:p>
          <a:p>
            <a:r>
              <a:t>  - Sends extracted invoice data</a:t>
            </a:r>
          </a:p>
          <a:p>
            <a:r>
              <a:t>  - Real-time webhook on completion</a:t>
            </a:r>
          </a:p>
          <a:p>
            <a:r>
              <a:t>  - ~500 transactions/day</a:t>
            </a:r>
          </a:p>
          <a:p>
            <a:r>
              <a:t>- Integration 2: Document Management System</a:t>
            </a:r>
          </a:p>
          <a:p>
            <a:r>
              <a:t>  - Stores processed results and original documents</a:t>
            </a:r>
          </a:p>
          <a:p>
            <a:r>
              <a:t>  - Batch sync every 15 minutes</a:t>
            </a:r>
          </a:p>
          <a:p>
            <a:r>
              <a:t>  - Full audit trail maintained</a:t>
            </a:r>
          </a:p>
          <a:p/>
          <a:p>
            <a:r>
              <a:t>**Key Architecture Decisions Made During Implementation:**</a:t>
            </a:r>
          </a:p>
          <a:p>
            <a:r>
              <a:t>1. Chose synchronous Textract for &lt;5 page docs (faster response)</a:t>
            </a:r>
          </a:p>
          <a:p>
            <a:r>
              <a:t>2. Implemented DynamoDB for state vs. RDS (cost optimization)</a:t>
            </a:r>
          </a:p>
          <a:p>
            <a:r>
              <a:t>3. Used Step Functions vs. custom orchestration (reliability)</a:t>
            </a:r>
          </a:p>
          <a:p>
            <a:r>
              <a:t>4. Single region deployment as per SOW (us-east-1)</a:t>
            </a:r>
          </a:p>
          <a:p/>
          <a:p>
            <a:r>
              <a:t>**Scalability Characteristics:**</a:t>
            </a:r>
          </a:p>
          <a:p>
            <a:r>
              <a:t>- Current: 1,000-5,000 documents/month (as scoped)</a:t>
            </a:r>
          </a:p>
          <a:p>
            <a:r>
              <a:t>- Capacity: Can scale to 50,000 documents/month without changes</a:t>
            </a:r>
          </a:p>
          <a:p>
            <a:r>
              <a:t>- Lambda concurrent executions: 100 reserved</a:t>
            </a:r>
          </a:p>
          <a:p>
            <a:r>
              <a:t>- No infrastructure changes needed to scale - just increase limits</a:t>
            </a:r>
          </a:p>
          <a:p/>
          <a:p>
            <a:r>
              <a:t>**Security Implementation:**</a:t>
            </a:r>
          </a:p>
          <a:p>
            <a:r>
              <a:t>- VPC endpoints for all AWS service calls</a:t>
            </a:r>
          </a:p>
          <a:p>
            <a:r>
              <a:t>- KMS encryption for data at rest</a:t>
            </a:r>
          </a:p>
          <a:p>
            <a:r>
              <a:t>- TLS 1.2+ for all data in transit</a:t>
            </a:r>
          </a:p>
          <a:p>
            <a:r>
              <a:t>- IAM roles with least privilege</a:t>
            </a:r>
          </a:p>
          <a:p>
            <a:r>
              <a:t>- CloudTrail audit logging enabled</a:t>
            </a:r>
          </a:p>
          <a:p>
            <a:r>
              <a:t>- SOC 2 compliant architecture</a:t>
            </a:r>
          </a:p>
          <a:p/>
          <a:p>
            <a:r>
              <a:t>*Transition:*</a:t>
            </a:r>
          </a:p>
          <a:p>
            <a:r>
              <a:t>"Now let me show you the complete deliverables package we're handing over..."</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*Deliverables Deep Dive - Review Each Item:*</a:t>
            </a:r>
          </a:p>
          <a:p/>
          <a:p>
            <a:r>
              <a:t>**1. Solution Architecture Document (detailed-design.docx):**</a:t>
            </a:r>
          </a:p>
          <a:p>
            <a:r>
              <a:t>- 45 pages comprehensive technical documentation</a:t>
            </a:r>
          </a:p>
          <a:p>
            <a:r>
              <a:t>- Sections include:</a:t>
            </a:r>
          </a:p>
          <a:p>
            <a:r>
              <a:t>  - Executive Summary and business context</a:t>
            </a:r>
          </a:p>
          <a:p>
            <a:r>
              <a:t>  - Current state assessment</a:t>
            </a:r>
          </a:p>
          <a:p>
            <a:r>
              <a:t>  - Target architecture with diagrams</a:t>
            </a:r>
          </a:p>
          <a:p>
            <a:r>
              <a:t>  - AWS service configurations (Textract, Comprehend, A2I)</a:t>
            </a:r>
          </a:p>
          <a:p>
            <a:r>
              <a:t>  - Data model and flow diagrams</a:t>
            </a:r>
          </a:p>
          <a:p>
            <a:r>
              <a:t>  - Security controls and compliance mapping</a:t>
            </a:r>
          </a:p>
          <a:p>
            <a:r>
              <a:t>  - Integration specifications</a:t>
            </a:r>
          </a:p>
          <a:p>
            <a:r>
              <a:t>  - Monitoring and alerting setup</a:t>
            </a:r>
          </a:p>
          <a:p>
            <a:r>
              <a:t>- Reviewed and accepted by [Technical Lead] on [Date]</a:t>
            </a:r>
          </a:p>
          <a:p>
            <a:r>
              <a:t>- Living document - recommend annual review</a:t>
            </a:r>
          </a:p>
          <a:p/>
          <a:p>
            <a:r>
              <a:t>**2. Implementation Guide (implementation-guide.docx):**</a:t>
            </a:r>
          </a:p>
          <a:p>
            <a:r>
              <a:t>- Step-by-step deployment procedures</a:t>
            </a:r>
          </a:p>
          <a:p>
            <a:r>
              <a:t>- Prerequisites checklist</a:t>
            </a:r>
          </a:p>
          <a:p>
            <a:r>
              <a:t>- CloudFormation deployment instructions</a:t>
            </a:r>
          </a:p>
          <a:p>
            <a:r>
              <a:t>- AWS CLI commands for validation</a:t>
            </a:r>
          </a:p>
          <a:p>
            <a:r>
              <a:t>- Post-deployment verification steps</a:t>
            </a:r>
          </a:p>
          <a:p>
            <a:r>
              <a:t>- Rollback procedures</a:t>
            </a:r>
          </a:p>
          <a:p>
            <a:r>
              <a:t>- Environment-specific configurations (dev, prod)</a:t>
            </a:r>
          </a:p>
          <a:p>
            <a:r>
              <a:t>- Validated by rebuilding staging environment from scratch</a:t>
            </a:r>
          </a:p>
          <a:p/>
          <a:p>
            <a:r>
              <a:t>**3. Project Plan (project-plan.xlsx):**</a:t>
            </a:r>
          </a:p>
          <a:p>
            <a:r>
              <a:t>- Four worksheets:</a:t>
            </a:r>
          </a:p>
          <a:p>
            <a:r>
              <a:t>  1. Project Timeline - 37 tasks across 6 months</a:t>
            </a:r>
          </a:p>
          <a:p>
            <a:r>
              <a:t>  2. Milestones - 7 major milestones tracked</a:t>
            </a:r>
          </a:p>
          <a:p>
            <a:r>
              <a:t>  3. RACI Matrix - 19 activities with clear ownership</a:t>
            </a:r>
          </a:p>
          <a:p>
            <a:r>
              <a:t>  4. Communications Plan - 12 meeting types defined</a:t>
            </a:r>
          </a:p>
          <a:p>
            <a:r>
              <a:t>- All milestones achieved on or ahead of schedule</a:t>
            </a:r>
          </a:p>
          <a:p>
            <a:r>
              <a:t>- Final status: 100% complete</a:t>
            </a:r>
          </a:p>
          <a:p/>
          <a:p>
            <a:r>
              <a:t>**4. Test Plan &amp; Results (test-plan.xlsx):**</a:t>
            </a:r>
          </a:p>
          <a:p>
            <a:r>
              <a:t>- Three test categories:</a:t>
            </a:r>
          </a:p>
          <a:p>
            <a:r>
              <a:t>  1. Functional Tests - 14 test cases (100% pass)</a:t>
            </a:r>
          </a:p>
          <a:p>
            <a:r>
              <a:t>  2. Non-Functional Tests - 14 test cases (100% pass)</a:t>
            </a:r>
          </a:p>
          <a:p>
            <a:r>
              <a:t>  3. User Acceptance Tests - 10 test cases (100% pass)</a:t>
            </a:r>
          </a:p>
          <a:p>
            <a:r>
              <a:t>- Accuracy validation dataset: 2,500 documents</a:t>
            </a:r>
          </a:p>
          <a:p>
            <a:r>
              <a:t>- Performance benchmarks documented</a:t>
            </a:r>
          </a:p>
          <a:p>
            <a:r>
              <a:t>- Security scan results included</a:t>
            </a:r>
          </a:p>
          <a:p/>
          <a:p>
            <a:r>
              <a:t>**5. CloudFormation Templates:**</a:t>
            </a:r>
          </a:p>
          <a:p>
            <a:r>
              <a:t>- Complete Infrastructure as Code package</a:t>
            </a:r>
          </a:p>
          <a:p>
            <a:r>
              <a:t>- Templates included:</a:t>
            </a:r>
          </a:p>
          <a:p>
            <a:r>
              <a:t>  - `network.yaml` - VPC, subnets, endpoints</a:t>
            </a:r>
          </a:p>
          <a:p>
            <a:r>
              <a:t>  - `storage.yaml` - S3 buckets, DynamoDB tables</a:t>
            </a:r>
          </a:p>
          <a:p>
            <a:r>
              <a:t>  - `compute.yaml` - Lambda functions, Step Functions</a:t>
            </a:r>
          </a:p>
          <a:p>
            <a:r>
              <a:t>  - `api.yaml` - API Gateway configuration</a:t>
            </a:r>
          </a:p>
          <a:p>
            <a:r>
              <a:t>  - `monitoring.yaml` - CloudWatch dashboards, alarms</a:t>
            </a:r>
          </a:p>
          <a:p>
            <a:r>
              <a:t>  - `security.yaml` - IAM roles, KMS keys</a:t>
            </a:r>
          </a:p>
          <a:p>
            <a:r>
              <a:t>- Tested in both dev and prod environments</a:t>
            </a:r>
          </a:p>
          <a:p>
            <a:r>
              <a:t>- Enables disaster recovery rebuild in &lt;4 hours</a:t>
            </a:r>
          </a:p>
          <a:p/>
          <a:p>
            <a:r>
              <a:t>**6. Operations Runbook:**</a:t>
            </a:r>
          </a:p>
          <a:p>
            <a:r>
              <a:t>- Daily operations checklist</a:t>
            </a:r>
          </a:p>
          <a:p>
            <a:r>
              <a:t>- Monitoring dashboard guide</a:t>
            </a:r>
          </a:p>
          <a:p>
            <a:r>
              <a:t>- Common troubleshooting scenarios:</a:t>
            </a:r>
          </a:p>
          <a:p>
            <a:r>
              <a:t>  - Document processing failures</a:t>
            </a:r>
          </a:p>
          <a:p>
            <a:r>
              <a:t>  - Integration errors</a:t>
            </a:r>
          </a:p>
          <a:p>
            <a:r>
              <a:t>  - Performance degradation</a:t>
            </a:r>
          </a:p>
          <a:p>
            <a:r>
              <a:t>  - A2I queue management</a:t>
            </a:r>
          </a:p>
          <a:p>
            <a:r>
              <a:t>- Escalation procedures</a:t>
            </a:r>
          </a:p>
          <a:p>
            <a:r>
              <a:t>- AWS service limit management</a:t>
            </a:r>
          </a:p>
          <a:p>
            <a:r>
              <a:t>- Cost optimization tips</a:t>
            </a:r>
          </a:p>
          <a:p/>
          <a:p>
            <a:r>
              <a:t>**7. Training Materials:**</a:t>
            </a:r>
          </a:p>
          <a:p>
            <a:r>
              <a:t>- Administrator Guide (PDF, 25 pages)</a:t>
            </a:r>
          </a:p>
          <a:p>
            <a:r>
              <a:t>- End User Guide (PDF, 15 pages)</a:t>
            </a:r>
          </a:p>
          <a:p>
            <a:r>
              <a:t>- Video tutorials (4 recordings, 45 minutes total):</a:t>
            </a:r>
          </a:p>
          <a:p>
            <a:r>
              <a:t>  1. Document submission walkthrough</a:t>
            </a:r>
          </a:p>
          <a:p>
            <a:r>
              <a:t>  2. Human review workflow</a:t>
            </a:r>
          </a:p>
          <a:p>
            <a:r>
              <a:t>  3. Admin dashboard overview</a:t>
            </a:r>
          </a:p>
          <a:p>
            <a:r>
              <a:t>  4. Troubleshooting common issues</a:t>
            </a:r>
          </a:p>
          <a:p>
            <a:r>
              <a:t>- Quick reference cards (laminated)</a:t>
            </a:r>
          </a:p>
          <a:p/>
          <a:p>
            <a:r>
              <a:t>**8. API Documentation:**</a:t>
            </a:r>
          </a:p>
          <a:p>
            <a:r>
              <a:t>- OpenAPI 3.0 specification</a:t>
            </a:r>
          </a:p>
          <a:p>
            <a:r>
              <a:t>- Endpoints documented:</a:t>
            </a:r>
          </a:p>
          <a:p>
            <a:r>
              <a:t>  - POST /documents - Submit document</a:t>
            </a:r>
          </a:p>
          <a:p>
            <a:r>
              <a:t>  - GET /documents/{id} - Get status</a:t>
            </a:r>
          </a:p>
          <a:p>
            <a:r>
              <a:t>  - GET /documents/{id}/results - Get extracted data</a:t>
            </a:r>
          </a:p>
          <a:p>
            <a:r>
              <a:t>  - GET /documents - List documents</a:t>
            </a:r>
          </a:p>
          <a:p>
            <a:r>
              <a:t>- Authentication examples</a:t>
            </a:r>
          </a:p>
          <a:p>
            <a:r>
              <a:t>- Error code reference</a:t>
            </a:r>
          </a:p>
          <a:p>
            <a:r>
              <a:t>- Rate limiting details</a:t>
            </a:r>
          </a:p>
          <a:p/>
          <a:p>
            <a:r>
              <a:t>*Training Sessions Delivered:*</a:t>
            </a:r>
          </a:p>
          <a:p>
            <a:r>
              <a:t>- Administrator Training: 2 sessions, 8 participants, 100% completion</a:t>
            </a:r>
          </a:p>
          <a:p>
            <a:r>
              <a:t>- End User Training: 3 sessions, 22 participants, 95% competency</a:t>
            </a:r>
          </a:p>
          <a:p>
            <a:r>
              <a:t>- IT Support Training: 1 session, 4 participants</a:t>
            </a:r>
          </a:p>
          <a:p>
            <a:r>
              <a:t>- Total training hours delivered: 16 hours</a:t>
            </a:r>
          </a:p>
          <a:p/>
          <a:p>
            <a:r>
              <a:t>*Transition:*</a:t>
            </a:r>
          </a:p>
          <a:p>
            <a:r>
              <a:t>"Let's look at how the solution is performing against our targets..."</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*Quality &amp; Performance Deep Dive:*</a:t>
            </a:r>
          </a:p>
          <a:p/>
          <a:p>
            <a:r>
              <a:t>**Accuracy Metrics - Detailed Breakdown:**</a:t>
            </a:r>
          </a:p>
          <a:p/>
          <a:p>
            <a:r>
              <a:t>*Overall Extraction Accuracy: 96.2%*</a:t>
            </a:r>
          </a:p>
          <a:p>
            <a:r>
              <a:t>- Measured against 2,500 document validation dataset</a:t>
            </a:r>
          </a:p>
          <a:p>
            <a:r>
              <a:t>- Ground truth created by business SMEs</a:t>
            </a:r>
          </a:p>
          <a:p>
            <a:r>
              <a:t>- Field-level accuracy calculation methodology:</a:t>
            </a:r>
          </a:p>
          <a:p>
            <a:r>
              <a:t>  - Total correct fields / Total expected fields</a:t>
            </a:r>
          </a:p>
          <a:p>
            <a:r>
              <a:t>  - Weighted by business priority</a:t>
            </a:r>
          </a:p>
          <a:p/>
          <a:p>
            <a:r>
              <a:t>*Invoice Processing: 97.1% Accuracy*</a:t>
            </a:r>
          </a:p>
          <a:p>
            <a:r>
              <a:t>- Highest accuracy due to structured format</a:t>
            </a:r>
          </a:p>
          <a:p>
            <a:r>
              <a:t>- Key fields extracted:</a:t>
            </a:r>
          </a:p>
          <a:p>
            <a:r>
              <a:t>  - Invoice Number: 99.2% accuracy</a:t>
            </a:r>
          </a:p>
          <a:p>
            <a:r>
              <a:t>  - Invoice Date: 98.5% accuracy</a:t>
            </a:r>
          </a:p>
          <a:p>
            <a:r>
              <a:t>  - Vendor Name: 96.8% accuracy</a:t>
            </a:r>
          </a:p>
          <a:p>
            <a:r>
              <a:t>  - Line Items: 95.1% accuracy</a:t>
            </a:r>
          </a:p>
          <a:p>
            <a:r>
              <a:t>  - Total Amount: 98.9% accuracy</a:t>
            </a:r>
          </a:p>
          <a:p>
            <a:r>
              <a:t>  - Payment Terms: 94.2% accuracy</a:t>
            </a:r>
          </a:p>
          <a:p>
            <a:r>
              <a:t>- Most common errors: Handwritten notes, poor scan quality</a:t>
            </a:r>
          </a:p>
          <a:p/>
          <a:p>
            <a:r>
              <a:t>*Purchase Orders: 95.8% Accuracy*</a:t>
            </a:r>
          </a:p>
          <a:p>
            <a:r>
              <a:t>- Slightly more variation in formats</a:t>
            </a:r>
          </a:p>
          <a:p>
            <a:r>
              <a:t>- Key fields extracted:</a:t>
            </a:r>
          </a:p>
          <a:p>
            <a:r>
              <a:t>  - PO Number: 98.7% accuracy</a:t>
            </a:r>
          </a:p>
          <a:p>
            <a:r>
              <a:t>  - Requester: 94.2% accuracy</a:t>
            </a:r>
          </a:p>
          <a:p>
            <a:r>
              <a:t>  - Items/Quantities: 93.8% accuracy</a:t>
            </a:r>
          </a:p>
          <a:p>
            <a:r>
              <a:t>  - Delivery Date: 96.1% accuracy</a:t>
            </a:r>
          </a:p>
          <a:p>
            <a:r>
              <a:t>- Challenge: Multiple line item formats</a:t>
            </a:r>
          </a:p>
          <a:p/>
          <a:p>
            <a:r>
              <a:t>*Contracts: 95.4% Accuracy*</a:t>
            </a:r>
          </a:p>
          <a:p>
            <a:r>
              <a:t>- Most complex document type</a:t>
            </a:r>
          </a:p>
          <a:p>
            <a:r>
              <a:t>- Entity extraction focus:</a:t>
            </a:r>
          </a:p>
          <a:p>
            <a:r>
              <a:t>  - Party Names: 96.2% accuracy</a:t>
            </a:r>
          </a:p>
          <a:p>
            <a:r>
              <a:t>  - Effective Dates: 97.8% accuracy</a:t>
            </a:r>
          </a:p>
          <a:p>
            <a:r>
              <a:t>  - Contract Value: 94.1% accuracy</a:t>
            </a:r>
          </a:p>
          <a:p>
            <a:r>
              <a:t>  - Key Terms: 93.5% accuracy</a:t>
            </a:r>
          </a:p>
          <a:p>
            <a:r>
              <a:t>- Comprehend custom entities helped significantly</a:t>
            </a:r>
          </a:p>
          <a:p/>
          <a:p>
            <a:r>
              <a:t>**Performance Metrics - Detailed Analysis:**</a:t>
            </a:r>
          </a:p>
          <a:p/>
          <a:p>
            <a:r>
              <a:t>*Processing Time: 90 Seconds Average*</a:t>
            </a:r>
          </a:p>
          <a:p>
            <a:r>
              <a:t>- SOW target: &lt;5 minutes per document</a:t>
            </a:r>
          </a:p>
          <a:p>
            <a:r>
              <a:t>- Achieved: 90 seconds average (70% better than target)</a:t>
            </a:r>
          </a:p>
          <a:p>
            <a:r>
              <a:t>- Breakdown by stage:</a:t>
            </a:r>
          </a:p>
          <a:p>
            <a:r>
              <a:t>  - Document validation: 2 seconds</a:t>
            </a:r>
          </a:p>
          <a:p>
            <a:r>
              <a:t>  - Textract OCR: 45 seconds average</a:t>
            </a:r>
          </a:p>
          <a:p>
            <a:r>
              <a:t>  - Comprehend NLP: 15 seconds</a:t>
            </a:r>
          </a:p>
          <a:p>
            <a:r>
              <a:t>  - Business logic: 10 seconds</a:t>
            </a:r>
          </a:p>
          <a:p>
            <a:r>
              <a:t>  - Integration calls: 18 seconds</a:t>
            </a:r>
          </a:p>
          <a:p>
            <a:r>
              <a:t>- Peak (complex documents): 3 minutes</a:t>
            </a:r>
          </a:p>
          <a:p>
            <a:r>
              <a:t>- Minimum (simple invoices): 30 seconds</a:t>
            </a:r>
          </a:p>
          <a:p/>
          <a:p>
            <a:r>
              <a:t>*System Uptime: 99.7%*</a:t>
            </a:r>
          </a:p>
          <a:p>
            <a:r>
              <a:t>- Target: 99.5% availability</a:t>
            </a:r>
          </a:p>
          <a:p>
            <a:r>
              <a:t>- Achieved: 99.7% (2.2 hours downtime in 30 days)</a:t>
            </a:r>
          </a:p>
          <a:p>
            <a:r>
              <a:t>- Downtime breakdown:</a:t>
            </a:r>
          </a:p>
          <a:p>
            <a:r>
              <a:t>  - Planned maintenance: 1.5 hours (during off-hours)</a:t>
            </a:r>
          </a:p>
          <a:p>
            <a:r>
              <a:t>  - Unplanned: 0.7 hours (Lambda cold start issue, resolved)</a:t>
            </a:r>
          </a:p>
          <a:p>
            <a:r>
              <a:t>- No data loss incidents</a:t>
            </a:r>
          </a:p>
          <a:p>
            <a:r>
              <a:t>- All SLAs met or exceeded</a:t>
            </a:r>
          </a:p>
          <a:p/>
          <a:p>
            <a:r>
              <a:t>*A2I Human Review Rate: 15%*</a:t>
            </a:r>
          </a:p>
          <a:p>
            <a:r>
              <a:t>- Target: &lt;20% of documents requiring human review</a:t>
            </a:r>
          </a:p>
          <a:p>
            <a:r>
              <a:t>- Achieved: 15% average</a:t>
            </a:r>
          </a:p>
          <a:p>
            <a:r>
              <a:t>- Breakdown by document type:</a:t>
            </a:r>
          </a:p>
          <a:p>
            <a:r>
              <a:t>  - Invoices: 10% require review</a:t>
            </a:r>
          </a:p>
          <a:p>
            <a:r>
              <a:t>  - Purchase Orders: 15% require review</a:t>
            </a:r>
          </a:p>
          <a:p>
            <a:r>
              <a:t>  - Contracts: 22% require review</a:t>
            </a:r>
          </a:p>
          <a:p>
            <a:r>
              <a:t>- Review reasons:</a:t>
            </a:r>
          </a:p>
          <a:p>
            <a:r>
              <a:t>  - Low confidence score (&lt;85%): 60%</a:t>
            </a:r>
          </a:p>
          <a:p>
            <a:r>
              <a:t>  - Missing required fields: 25%</a:t>
            </a:r>
          </a:p>
          <a:p>
            <a:r>
              <a:t>  - Quality issues: 15%</a:t>
            </a:r>
          </a:p>
          <a:p/>
          <a:p>
            <a:r>
              <a:t>*API Response Time: 1.2 Seconds*</a:t>
            </a:r>
          </a:p>
          <a:p>
            <a:r>
              <a:t>- Document submission: 800ms average</a:t>
            </a:r>
          </a:p>
          <a:p>
            <a:r>
              <a:t>- Status queries: 200ms average</a:t>
            </a:r>
          </a:p>
          <a:p>
            <a:r>
              <a:t>- Results retrieval: 1.5 seconds average</a:t>
            </a:r>
          </a:p>
          <a:p>
            <a:r>
              <a:t>- Well under 3-second target</a:t>
            </a:r>
          </a:p>
          <a:p/>
          <a:p>
            <a:r>
              <a:t>**Testing Summary:**</a:t>
            </a:r>
          </a:p>
          <a:p>
            <a:r>
              <a:t>- Test Cases Executed: 38 total</a:t>
            </a:r>
          </a:p>
          <a:p>
            <a:r>
              <a:t>- Pass Rate: 100%</a:t>
            </a:r>
          </a:p>
          <a:p>
            <a:r>
              <a:t>- Test Coverage: 94%</a:t>
            </a:r>
          </a:p>
          <a:p>
            <a:r>
              <a:t>- Critical Defects at Go-Live: 0</a:t>
            </a:r>
          </a:p>
          <a:p>
            <a:r>
              <a:t>- Defects Found During Hypercare: 3 (all P3, resolved)</a:t>
            </a:r>
          </a:p>
          <a:p/>
          <a:p>
            <a:r>
              <a:t>**Comparison to SOW Targets:**</a:t>
            </a:r>
          </a:p>
          <a:p>
            <a:r>
              <a:t>| Metric | SOW Target | Achieved | Status |</a:t>
            </a:r>
          </a:p>
          <a:p>
            <a:r>
              <a:t>|--------|------------|----------|--------|</a:t>
            </a:r>
          </a:p>
          <a:p>
            <a:r>
              <a:t>| Extraction Accuracy | 95%+ | 96.2% | Exceeded |</a:t>
            </a:r>
          </a:p>
          <a:p>
            <a:r>
              <a:t>| Processing Time | &lt;5 min | 90 sec | Exceeded |</a:t>
            </a:r>
          </a:p>
          <a:p>
            <a:r>
              <a:t>| System Uptime | 99.5% | 99.7% | Exceeded |</a:t>
            </a:r>
          </a:p>
          <a:p>
            <a:r>
              <a:t>| Human Review Rate | &lt;20% | 15% | Exceeded |</a:t>
            </a:r>
          </a:p>
          <a:p/>
          <a:p>
            <a:r>
              <a:t>*Transition:*</a:t>
            </a:r>
          </a:p>
          <a:p>
            <a:r>
              <a:t>"These performance improvements translate directly into business value. Let me show you the benefits we're already seeing..."</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*Benefits Analysis - Detailed ROI Discussion:*</a:t>
            </a:r>
          </a:p>
          <a:p/>
          <a:p>
            <a:r>
              <a:t>**Processing Time Reduction - 90%:**</a:t>
            </a:r>
          </a:p>
          <a:p/>
          <a:p>
            <a:r>
              <a:t>*Before (Manual Process):*</a:t>
            </a:r>
          </a:p>
          <a:p>
            <a:r>
              <a:t>- Average time per document: 15-20 minutes</a:t>
            </a:r>
          </a:p>
          <a:p>
            <a:r>
              <a:t>- Steps involved:</a:t>
            </a:r>
          </a:p>
          <a:p>
            <a:r>
              <a:t>  1. Open document (30 sec)</a:t>
            </a:r>
          </a:p>
          <a:p>
            <a:r>
              <a:t>  2. Identify document type (1 min)</a:t>
            </a:r>
          </a:p>
          <a:p>
            <a:r>
              <a:t>  3. Locate key fields (2-3 min)</a:t>
            </a:r>
          </a:p>
          <a:p>
            <a:r>
              <a:t>  4. Manual data entry (8-10 min)</a:t>
            </a:r>
          </a:p>
          <a:p>
            <a:r>
              <a:t>  5. Validation/verification (3-4 min)</a:t>
            </a:r>
          </a:p>
          <a:p>
            <a:r>
              <a:t>  6. Submit to downstream system (1 min)</a:t>
            </a:r>
          </a:p>
          <a:p>
            <a:r>
              <a:t>- Daily capacity: ~25 documents per processor</a:t>
            </a:r>
          </a:p>
          <a:p/>
          <a:p>
            <a:r>
              <a:t>*After (Automated Process):*</a:t>
            </a:r>
          </a:p>
          <a:p>
            <a:r>
              <a:t>- Average time per document: 90 seconds (automated) + 2 min (review if needed)</a:t>
            </a:r>
          </a:p>
          <a:p>
            <a:r>
              <a:t>- 85% fully automated, 15% require brief human review</a:t>
            </a:r>
          </a:p>
          <a:p>
            <a:r>
              <a:t>- Daily capacity: 200+ documents per processor (for review queue)</a:t>
            </a:r>
          </a:p>
          <a:p>
            <a:r>
              <a:t>- Staff time per document: &lt;30 seconds average (spot checks only)</a:t>
            </a:r>
          </a:p>
          <a:p/>
          <a:p>
            <a:r>
              <a:t>*Business Impact:*</a:t>
            </a:r>
          </a:p>
          <a:p>
            <a:r>
              <a:t>- Same 3-person team now handles 5x volume</a:t>
            </a:r>
          </a:p>
          <a:p>
            <a:r>
              <a:t>- Faster turnaround to business units</a:t>
            </a:r>
          </a:p>
          <a:p>
            <a:r>
              <a:t>- Reduced overtime during peak periods</a:t>
            </a:r>
          </a:p>
          <a:p/>
          <a:p>
            <a:r>
              <a:t>**Accuracy Improvement - 96.2%:**</a:t>
            </a:r>
          </a:p>
          <a:p/>
          <a:p>
            <a:r>
              <a:t>*Before (Manual Entry):*</a:t>
            </a:r>
          </a:p>
          <a:p>
            <a:r>
              <a:t>- Error rate: 5-8% in manual data entry</a:t>
            </a:r>
          </a:p>
          <a:p>
            <a:r>
              <a:t>- Common errors: Typos, transposition, missed fields</a:t>
            </a:r>
          </a:p>
          <a:p>
            <a:r>
              <a:t>- Rework required: 10-15% of documents</a:t>
            </a:r>
          </a:p>
          <a:p>
            <a:r>
              <a:t>- Cost of rework: ~$15 per document</a:t>
            </a:r>
          </a:p>
          <a:p/>
          <a:p>
            <a:r>
              <a:t>*After (AI Extraction):*</a:t>
            </a:r>
          </a:p>
          <a:p>
            <a:r>
              <a:t>- Error rate: 3.8% (96.2% accuracy)</a:t>
            </a:r>
          </a:p>
          <a:p>
            <a:r>
              <a:t>- Errors caught by validation rules</a:t>
            </a:r>
          </a:p>
          <a:p>
            <a:r>
              <a:t>- Human review catches remaining issues</a:t>
            </a:r>
          </a:p>
          <a:p>
            <a:r>
              <a:t>- Near-zero rework on extracted data</a:t>
            </a:r>
          </a:p>
          <a:p/>
          <a:p>
            <a:r>
              <a:t>*Financial Impact:*</a:t>
            </a:r>
          </a:p>
          <a:p>
            <a:r>
              <a:t>- Previous rework cost: ~$36,000/year (2,400 docs × $15)</a:t>
            </a:r>
          </a:p>
          <a:p>
            <a:r>
              <a:t>- Current rework cost: ~$5,000/year</a:t>
            </a:r>
          </a:p>
          <a:p>
            <a:r>
              <a:t>- Annual savings: $31,000 from error reduction</a:t>
            </a:r>
          </a:p>
          <a:p/>
          <a:p>
            <a:r>
              <a:t>**Cost Savings - 65% Year 1 (building to 70%+):**</a:t>
            </a:r>
          </a:p>
          <a:p/>
          <a:p>
            <a:r>
              <a:t>*Cost Comparison:*</a:t>
            </a:r>
          </a:p>
          <a:p/>
          <a:p>
            <a:r>
              <a:t>| Category | Before (Annual) | After (Annual) | Savings |</a:t>
            </a:r>
          </a:p>
          <a:p>
            <a:r>
              <a:t>|----------|-----------------|----------------|---------|</a:t>
            </a:r>
          </a:p>
          <a:p>
            <a:r>
              <a:t>| Labor (3 FTEs) | $144,000 | $48,000* | $96,000 |</a:t>
            </a:r>
          </a:p>
          <a:p>
            <a:r>
              <a:t>| Error Rework | $36,000 | $5,000 | $31,000 |</a:t>
            </a:r>
          </a:p>
          <a:p>
            <a:r>
              <a:t>| Overtime | $18,000 | $2,000 | $16,000 |</a:t>
            </a:r>
          </a:p>
          <a:p>
            <a:r>
              <a:t>| **Subtotal Savings** | | | **$143,000** |</a:t>
            </a:r>
          </a:p>
          <a:p>
            <a:r>
              <a:t>| AWS Costs | $0 | ($26,830) | |</a:t>
            </a:r>
          </a:p>
          <a:p>
            <a:r>
              <a:t>| Software | $0 | ($2,784) | |</a:t>
            </a:r>
          </a:p>
          <a:p>
            <a:r>
              <a:t>| Support | $0 | ($4,087) | |</a:t>
            </a:r>
          </a:p>
          <a:p>
            <a:r>
              <a:t>| **Net Annual Savings** | | | **$109,299** |</a:t>
            </a:r>
          </a:p>
          <a:p/>
          <a:p>
            <a:r>
              <a:t>*Note: 2 FTEs reallocated to other work, 1 FTE manages review queue</a:t>
            </a:r>
          </a:p>
          <a:p/>
          <a:p>
            <a:r>
              <a:t>*Year 1 includes implementation cost, so net savings lower</a:t>
            </a:r>
          </a:p>
          <a:p>
            <a:r>
              <a:t>*Year 2+ will achieve full 70%+ savings target</a:t>
            </a:r>
          </a:p>
          <a:p/>
          <a:p>
            <a:r>
              <a:t>**Staff Reallocation - 2 FTEs:**</a:t>
            </a:r>
          </a:p>
          <a:p>
            <a:r>
              <a:t>- Previous role: Manual document data entry</a:t>
            </a:r>
          </a:p>
          <a:p>
            <a:r>
              <a:t>- New roles:</a:t>
            </a:r>
          </a:p>
          <a:p>
            <a:r>
              <a:t>  - 1 FTE: Customer service escalations (higher value)</a:t>
            </a:r>
          </a:p>
          <a:p>
            <a:r>
              <a:t>  - 1 FTE: Process improvement and analytics</a:t>
            </a:r>
          </a:p>
          <a:p>
            <a:r>
              <a:t>- Remaining team member: Review queue + exception handling</a:t>
            </a:r>
          </a:p>
          <a:p>
            <a:r>
              <a:t>- No layoffs - internal redeployment</a:t>
            </a:r>
          </a:p>
          <a:p>
            <a:r>
              <a:t>- Employee satisfaction improved (less repetitive work)</a:t>
            </a:r>
          </a:p>
          <a:p/>
          <a:p>
            <a:r>
              <a:t>**Throughput Increase - 5x Capacity:**</a:t>
            </a:r>
          </a:p>
          <a:p/>
          <a:p>
            <a:r>
              <a:t>*Volume Capability:*</a:t>
            </a:r>
          </a:p>
          <a:p>
            <a:r>
              <a:t>- SOW Scope: 1,000-5,000 documents/month</a:t>
            </a:r>
          </a:p>
          <a:p>
            <a:r>
              <a:t>- Current Actual: ~3,000 documents/month</a:t>
            </a:r>
          </a:p>
          <a:p>
            <a:r>
              <a:t>- System Capacity: 25,000+ documents/month</a:t>
            </a:r>
          </a:p>
          <a:p>
            <a:r>
              <a:t>- Headroom: 8x current volume without changes</a:t>
            </a:r>
          </a:p>
          <a:p/>
          <a:p>
            <a:r>
              <a:t>*Growth Ready:*</a:t>
            </a:r>
          </a:p>
          <a:p>
            <a:r>
              <a:t>- Can absorb business growth without additional investment</a:t>
            </a:r>
          </a:p>
          <a:p>
            <a:r>
              <a:t>- New document types: 4-6 week implementation each</a:t>
            </a:r>
          </a:p>
          <a:p>
            <a:r>
              <a:t>- New integrations: 2-3 weeks per integration</a:t>
            </a:r>
          </a:p>
          <a:p>
            <a:r>
              <a:t>- Horizontal scaling built in</a:t>
            </a:r>
          </a:p>
          <a:p/>
          <a:p>
            <a:r>
              <a:t>**Compliance &amp; Audit:**</a:t>
            </a:r>
          </a:p>
          <a:p>
            <a:r>
              <a:t>- Complete audit trail via CloudTrail</a:t>
            </a:r>
          </a:p>
          <a:p>
            <a:r>
              <a:t>- Document lineage tracking in DynamoDB</a:t>
            </a:r>
          </a:p>
          <a:p>
            <a:r>
              <a:t>- PII detection and handling documented</a:t>
            </a:r>
          </a:p>
          <a:p>
            <a:r>
              <a:t>- SOC 2 compliance maintained</a:t>
            </a:r>
          </a:p>
          <a:p>
            <a:r>
              <a:t>- Ready for internal/external audit</a:t>
            </a:r>
          </a:p>
          <a:p/>
          <a:p>
            <a:r>
              <a:t>**ROI Summary:**</a:t>
            </a:r>
          </a:p>
          <a:p/>
          <a:p>
            <a:r>
              <a:t>| Metric | Value |</a:t>
            </a:r>
          </a:p>
          <a:p>
            <a:r>
              <a:t>|--------|-------|</a:t>
            </a:r>
          </a:p>
          <a:p>
            <a:r>
              <a:t>| Total Investment (Year 1) | $115,951 |</a:t>
            </a:r>
          </a:p>
          <a:p>
            <a:r>
              <a:t>| Year 1 Net Savings | $109,299 |</a:t>
            </a:r>
          </a:p>
          <a:p>
            <a:r>
              <a:t>| Year 1 ROI | 94% |</a:t>
            </a:r>
          </a:p>
          <a:p>
            <a:r>
              <a:t>| Payback Period | 12.7 months |</a:t>
            </a:r>
          </a:p>
          <a:p>
            <a:r>
              <a:t>| 3-Year TCO | $168,353 |</a:t>
            </a:r>
          </a:p>
          <a:p>
            <a:r>
              <a:t>| 3-Year Savings | $327,897 |</a:t>
            </a:r>
          </a:p>
          <a:p>
            <a:r>
              <a:t>| 3-Year Net Benefit | $159,544 |</a:t>
            </a:r>
          </a:p>
          <a:p>
            <a:r>
              <a:t>| 3-Year ROI | 95% |</a:t>
            </a:r>
          </a:p>
          <a:p/>
          <a:p>
            <a:r>
              <a:t>*Transition:*</a:t>
            </a:r>
          </a:p>
          <a:p>
            <a:r>
              <a:t>"We learned valuable lessons during this implementation that will help with future phases..."</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*Lessons Learned - Comprehensive Review:*</a:t>
            </a:r>
          </a:p>
          <a:p/>
          <a:p>
            <a:r>
              <a:t>**What Worked Well - Details:**</a:t>
            </a:r>
          </a:p>
          <a:p/>
          <a:p>
            <a:r>
              <a:t>*1. Pilot Phase Validated Accuracy Early (Months 1-2):*</a:t>
            </a:r>
          </a:p>
          <a:p>
            <a:r>
              <a:t>- Started with invoices only (highest volume, clearest structure)</a:t>
            </a:r>
          </a:p>
          <a:p>
            <a:r>
              <a:t>- Processed 500 pilot documents before expansion</a:t>
            </a:r>
          </a:p>
          <a:p>
            <a:r>
              <a:t>- Achieved 95.8% accuracy in pilot (validated approach)</a:t>
            </a:r>
          </a:p>
          <a:p>
            <a:r>
              <a:t>- Built stakeholder confidence before larger investment</a:t>
            </a:r>
          </a:p>
          <a:p>
            <a:r>
              <a:t>- Recommendation: Always pilot with single document type first</a:t>
            </a:r>
          </a:p>
          <a:p/>
          <a:p>
            <a:r>
              <a:t>*2. A2I Human Review as Safety Net:*</a:t>
            </a:r>
          </a:p>
          <a:p>
            <a:r>
              <a:t>- Initial concern: Would AI be accurate enough?</a:t>
            </a:r>
          </a:p>
          <a:p>
            <a:r>
              <a:t>- A2I provided confidence for go-live</a:t>
            </a:r>
          </a:p>
          <a:p>
            <a:r>
              <a:t>- Review queue catches edge cases</a:t>
            </a:r>
          </a:p>
          <a:p>
            <a:r>
              <a:t>- Reviewers provide feedback that improves accuracy</a:t>
            </a:r>
          </a:p>
          <a:p>
            <a:r>
              <a:t>- Review rate dropped from 25% (Month 1) to 15% (Month 6)</a:t>
            </a:r>
          </a:p>
          <a:p>
            <a:r>
              <a:t>- Recommendation: Budget for human review, plan for it to decrease</a:t>
            </a:r>
          </a:p>
          <a:p/>
          <a:p>
            <a:r>
              <a:t>*3. Phased Cutover Reduced Risk:*</a:t>
            </a:r>
          </a:p>
          <a:p>
            <a:r>
              <a:t>- Parallel processing for 2 weeks</a:t>
            </a:r>
          </a:p>
          <a:p>
            <a:r>
              <a:t>- Gradual volume shift (25% → 75% → 100%)</a:t>
            </a:r>
          </a:p>
          <a:p>
            <a:r>
              <a:t>- Manual fallback always available</a:t>
            </a:r>
          </a:p>
          <a:p>
            <a:r>
              <a:t>- Zero data loss during transition</a:t>
            </a:r>
          </a:p>
          <a:p>
            <a:r>
              <a:t>- User confidence built incrementally</a:t>
            </a:r>
          </a:p>
          <a:p>
            <a:r>
              <a:t>- Recommendation: Never do "big bang" cutover for AI systems</a:t>
            </a:r>
          </a:p>
          <a:p/>
          <a:p>
            <a:r>
              <a:t>*4. Weekly Stakeholder Demos:*</a:t>
            </a:r>
          </a:p>
          <a:p>
            <a:r>
              <a:t>- Thursday 2pm demos throughout project</a:t>
            </a:r>
          </a:p>
          <a:p>
            <a:r>
              <a:t>- Showed actual documents being processed</a:t>
            </a:r>
          </a:p>
          <a:p>
            <a:r>
              <a:t>- Gathered feedback in real-time</a:t>
            </a:r>
          </a:p>
          <a:p>
            <a:r>
              <a:t>- Built organizational buy-in</a:t>
            </a:r>
          </a:p>
          <a:p>
            <a:r>
              <a:t>- Identified issues early</a:t>
            </a:r>
          </a:p>
          <a:p>
            <a:r>
              <a:t>- Recommendation: Demo frequently, use real documents</a:t>
            </a:r>
          </a:p>
          <a:p/>
          <a:p>
            <a:r>
              <a:t>**Challenges Overcome - Details:**</a:t>
            </a:r>
          </a:p>
          <a:p/>
          <a:p>
            <a:r>
              <a:t>*1. Document Quality Variation:*</a:t>
            </a:r>
          </a:p>
          <a:p>
            <a:r>
              <a:t>- Challenge: 15% of scanned documents had quality issues</a:t>
            </a:r>
          </a:p>
          <a:p>
            <a:r>
              <a:t>  - Skewed scans</a:t>
            </a:r>
          </a:p>
          <a:p>
            <a:r>
              <a:t>  - Low resolution (under 150 DPI)</a:t>
            </a:r>
          </a:p>
          <a:p>
            <a:r>
              <a:t>  - Handwritten annotations</a:t>
            </a:r>
          </a:p>
          <a:p>
            <a:r>
              <a:t>  - Multi-generation photocopies</a:t>
            </a:r>
          </a:p>
          <a:p>
            <a:r>
              <a:t>- Impact: Accuracy dropped to 82% on poor quality docs</a:t>
            </a:r>
          </a:p>
          <a:p>
            <a:r>
              <a:t>- Resolution:</a:t>
            </a:r>
          </a:p>
          <a:p>
            <a:r>
              <a:t>  - Implemented pre-processing (deskew, contrast adjustment)</a:t>
            </a:r>
          </a:p>
          <a:p>
            <a:r>
              <a:t>  - Created document quality guidelines for submitters</a:t>
            </a:r>
          </a:p>
          <a:p>
            <a:r>
              <a:t>  - Added quality check in Step Functions workflow</a:t>
            </a:r>
          </a:p>
          <a:p>
            <a:r>
              <a:t>  - Route poor quality to manual review automatically</a:t>
            </a:r>
          </a:p>
          <a:p>
            <a:r>
              <a:t>- Result: Quality issues now caught early, accuracy maintained</a:t>
            </a:r>
          </a:p>
          <a:p>
            <a:r>
              <a:t>- Future: Consider adding image enhancement preprocessing</a:t>
            </a:r>
          </a:p>
          <a:p/>
          <a:p>
            <a:r>
              <a:t>*2. Integration Timing Alignment:*</a:t>
            </a:r>
          </a:p>
          <a:p>
            <a:r>
              <a:t>- Challenge: ERP system had maintenance windows</a:t>
            </a:r>
          </a:p>
          <a:p>
            <a:r>
              <a:t>- Impact: Initial integration failures during batch processing</a:t>
            </a:r>
          </a:p>
          <a:p>
            <a:r>
              <a:t>- Resolution:</a:t>
            </a:r>
          </a:p>
          <a:p>
            <a:r>
              <a:t>  - Implemented retry logic with exponential backoff</a:t>
            </a:r>
          </a:p>
          <a:p>
            <a:r>
              <a:t>  - Added SQS queue as buffer</a:t>
            </a:r>
          </a:p>
          <a:p>
            <a:r>
              <a:t>  - Configured maintenance window awareness</a:t>
            </a:r>
          </a:p>
          <a:p>
            <a:r>
              <a:t>  - Alert on repeated failures</a:t>
            </a:r>
          </a:p>
          <a:p>
            <a:r>
              <a:t>- Result: 99.9% integration success rate</a:t>
            </a:r>
          </a:p>
          <a:p>
            <a:r>
              <a:t>- Lesson: Always implement resilient integration patterns</a:t>
            </a:r>
          </a:p>
          <a:p/>
          <a:p>
            <a:r>
              <a:t>*3. User Adoption Concerns:*</a:t>
            </a:r>
          </a:p>
          <a:p>
            <a:r>
              <a:t>- Challenge: Processing team worried about job security</a:t>
            </a:r>
          </a:p>
          <a:p>
            <a:r>
              <a:t>- Initial resistance: "AI will replace us"</a:t>
            </a:r>
          </a:p>
          <a:p>
            <a:r>
              <a:t>- Resolution:</a:t>
            </a:r>
          </a:p>
          <a:p>
            <a:r>
              <a:t>  - Early communication about reallocation (not reduction)</a:t>
            </a:r>
          </a:p>
          <a:p>
            <a:r>
              <a:t>  - Involved team in pilot testing</a:t>
            </a:r>
          </a:p>
          <a:p>
            <a:r>
              <a:t>  - Celebrated their expertise in training A2I reviewers</a:t>
            </a:r>
          </a:p>
          <a:p>
            <a:r>
              <a:t>  - Showed how their time shifts to higher-value work</a:t>
            </a:r>
          </a:p>
          <a:p>
            <a:r>
              <a:t>- Result: Team became champions of the solution</a:t>
            </a:r>
          </a:p>
          <a:p>
            <a:r>
              <a:t>- Lesson: Change management as important as technology</a:t>
            </a:r>
          </a:p>
          <a:p/>
          <a:p>
            <a:r>
              <a:t>**Recommendations for Future Enhancement:**</a:t>
            </a:r>
          </a:p>
          <a:p/>
          <a:p>
            <a:r>
              <a:t>*1. Add 2-3 More Document Types (Phase 2):*</a:t>
            </a:r>
          </a:p>
          <a:p>
            <a:r>
              <a:t>- Candidates identified during discovery:</a:t>
            </a:r>
          </a:p>
          <a:p>
            <a:r>
              <a:t>  - Shipping documents (BOL, packing lists)</a:t>
            </a:r>
          </a:p>
          <a:p>
            <a:r>
              <a:t>  - Expense reports</a:t>
            </a:r>
          </a:p>
          <a:p>
            <a:r>
              <a:t>  - Vendor applications</a:t>
            </a:r>
          </a:p>
          <a:p>
            <a:r>
              <a:t>- Estimated effort: 4-6 weeks per document type</a:t>
            </a:r>
          </a:p>
          <a:p>
            <a:r>
              <a:t>- Investment: ~$15,000-20,000 per document type</a:t>
            </a:r>
          </a:p>
          <a:p>
            <a:r>
              <a:t>- Expected accuracy: 94%+ based on current performance</a:t>
            </a:r>
          </a:p>
          <a:p>
            <a:r>
              <a:t>- Business case: Additional $40K savings per document type</a:t>
            </a:r>
          </a:p>
          <a:p/>
          <a:p>
            <a:r>
              <a:t>*2. Implement Feedback Loop:*</a:t>
            </a:r>
          </a:p>
          <a:p>
            <a:r>
              <a:t>- Current state: A2I corrections captured but not analyzed</a:t>
            </a:r>
          </a:p>
          <a:p>
            <a:r>
              <a:t>- Recommendation: Monthly accuracy trend reporting</a:t>
            </a:r>
          </a:p>
          <a:p>
            <a:r>
              <a:t>- Use reviewer corrections to identify:</a:t>
            </a:r>
          </a:p>
          <a:p>
            <a:r>
              <a:t>  - Systematic extraction errors</a:t>
            </a:r>
          </a:p>
          <a:p>
            <a:r>
              <a:t>  - New document format variations</a:t>
            </a:r>
          </a:p>
          <a:p>
            <a:r>
              <a:t>  - Comprehend entity improvements needed</a:t>
            </a:r>
          </a:p>
          <a:p>
            <a:r>
              <a:t>- Goal: Continuous accuracy improvement</a:t>
            </a:r>
          </a:p>
          <a:p>
            <a:r>
              <a:t>- Target: Reduce A2I review rate to &lt;10%</a:t>
            </a:r>
          </a:p>
          <a:p/>
          <a:p>
            <a:r>
              <a:t>*3. A2I Workflow Optimization:*</a:t>
            </a:r>
          </a:p>
          <a:p>
            <a:r>
              <a:t>- Current average review time: 2 minutes</a:t>
            </a:r>
          </a:p>
          <a:p>
            <a:r>
              <a:t>- Opportunity: Pre-populate more fields</a:t>
            </a:r>
          </a:p>
          <a:p>
            <a:r>
              <a:t>- Add confidence indicators to UI</a:t>
            </a:r>
          </a:p>
          <a:p>
            <a:r>
              <a:t>- Implement keyboard shortcuts</a:t>
            </a:r>
          </a:p>
          <a:p>
            <a:r>
              <a:t>- Target: 1 minute average review time</a:t>
            </a:r>
          </a:p>
          <a:p>
            <a:r>
              <a:t>- Impact: 50% productivity improvement for reviewers</a:t>
            </a:r>
          </a:p>
          <a:p/>
          <a:p>
            <a:r>
              <a:t>*4. Plan for Volume Growth:*</a:t>
            </a:r>
          </a:p>
          <a:p>
            <a:r>
              <a:t>- Current: 3,000 documents/month</a:t>
            </a:r>
          </a:p>
          <a:p>
            <a:r>
              <a:t>- Projected (12 months): 5,000 documents/month</a:t>
            </a:r>
          </a:p>
          <a:p>
            <a:r>
              <a:t>- System capacity: 25,000 documents/month</a:t>
            </a:r>
          </a:p>
          <a:p>
            <a:r>
              <a:t>- No infrastructure changes needed</a:t>
            </a:r>
          </a:p>
          <a:p>
            <a:r>
              <a:t>- Consider:</a:t>
            </a:r>
          </a:p>
          <a:p>
            <a:r>
              <a:t>  - Lambda concurrency increase (100 → 200)</a:t>
            </a:r>
          </a:p>
          <a:p>
            <a:r>
              <a:t>  - DynamoDB capacity planning</a:t>
            </a:r>
          </a:p>
          <a:p>
            <a:r>
              <a:t>  - S3 lifecycle policy review</a:t>
            </a:r>
          </a:p>
          <a:p>
            <a:r>
              <a:t>  - Cost optimization as volume grows</a:t>
            </a:r>
          </a:p>
          <a:p/>
          <a:p>
            <a:r>
              <a:t>**Not Recommended at This Time:**</a:t>
            </a:r>
          </a:p>
          <a:p>
            <a:r>
              <a:t>- Custom ML model training (Textract+Comprehend sufficient)</a:t>
            </a:r>
          </a:p>
          <a:p>
            <a:r>
              <a:t>- Multi-region deployment (single region meeting SLA)</a:t>
            </a:r>
          </a:p>
          <a:p>
            <a:r>
              <a:t>- Real-time processing (batch meeting business needs)</a:t>
            </a:r>
          </a:p>
          <a:p/>
          <a:p>
            <a:r>
              <a:t>*Transition:*</a:t>
            </a:r>
          </a:p>
          <a:p>
            <a:r>
              <a:t>"Let me walk you through how we're transitioning support to your team..."</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*Support Transition - Complete Details:*</a:t>
            </a:r>
          </a:p>
          <a:p/>
          <a:p>
            <a:r>
              <a:t>**Hypercare Period Summary (30 Days Post-Go-Live):**</a:t>
            </a:r>
          </a:p>
          <a:p/>
          <a:p>
            <a:r>
              <a:t>*Daily Activities Completed:*</a:t>
            </a:r>
          </a:p>
          <a:p>
            <a:r>
              <a:t>- Morning health check calls (9am) - first 2 weeks</a:t>
            </a:r>
          </a:p>
          <a:p>
            <a:r>
              <a:t>- CloudWatch dashboard review</a:t>
            </a:r>
          </a:p>
          <a:p>
            <a:r>
              <a:t>- A2I queue monitoring</a:t>
            </a:r>
          </a:p>
          <a:p>
            <a:r>
              <a:t>- Integration status verification</a:t>
            </a:r>
          </a:p>
          <a:p>
            <a:r>
              <a:t>- Processing volume tracking</a:t>
            </a:r>
          </a:p>
          <a:p/>
          <a:p>
            <a:r>
              <a:t>*Issues Resolved During Hypercare:*</a:t>
            </a:r>
          </a:p>
          <a:p/>
          <a:p>
            <a:r>
              <a:t>Issue #1 (P3) - Day 3:</a:t>
            </a:r>
          </a:p>
          <a:p>
            <a:r>
              <a:t>- Problem: Lambda timeout on large PDF (28 pages)</a:t>
            </a:r>
          </a:p>
          <a:p>
            <a:r>
              <a:t>- Root cause: Synchronous Textract call timeout</a:t>
            </a:r>
          </a:p>
          <a:p>
            <a:r>
              <a:t>- Resolution: Adjusted to async processing for &gt;10 pages</a:t>
            </a:r>
          </a:p>
          <a:p>
            <a:r>
              <a:t>- Prevention: Added document size check in workflow</a:t>
            </a:r>
          </a:p>
          <a:p/>
          <a:p>
            <a:r>
              <a:t>Issue #2 (P3) - Day 8:</a:t>
            </a:r>
          </a:p>
          <a:p>
            <a:r>
              <a:t>- Problem: DynamoDB throttling during peak</a:t>
            </a:r>
          </a:p>
          <a:p>
            <a:r>
              <a:t>- Root cause: Burst capacity exceeded</a:t>
            </a:r>
          </a:p>
          <a:p>
            <a:r>
              <a:t>- Resolution: Switched to on-demand capacity mode</a:t>
            </a:r>
          </a:p>
          <a:p>
            <a:r>
              <a:t>- Cost impact: Minimal (~$20/month increase)</a:t>
            </a:r>
          </a:p>
          <a:p/>
          <a:p>
            <a:r>
              <a:t>Issue #3 (P3) - Day 15:</a:t>
            </a:r>
          </a:p>
          <a:p>
            <a:r>
              <a:t>- Problem: A2I reviewer UI slow to load</a:t>
            </a:r>
          </a:p>
          <a:p>
            <a:r>
              <a:t>- Root cause: Large result payload</a:t>
            </a:r>
          </a:p>
          <a:p>
            <a:r>
              <a:t>- Resolution: Implemented pagination in results API</a:t>
            </a:r>
          </a:p>
          <a:p>
            <a:r>
              <a:t>- User feedback: "Much better now"</a:t>
            </a:r>
          </a:p>
          <a:p/>
          <a:p>
            <a:r>
              <a:t>*Knowledge Transfer Sessions Delivered:*</a:t>
            </a:r>
          </a:p>
          <a:p/>
          <a:p>
            <a:r>
              <a:t>| Session | Date | Attendees | Duration | Recording |</a:t>
            </a:r>
          </a:p>
          <a:p>
            <a:r>
              <a:t>|---------|------|-----------|----------|-----------|</a:t>
            </a:r>
          </a:p>
          <a:p>
            <a:r>
              <a:t>| Admin Deep Dive | Week 16 | 4 IT staff | 3 hours | Yes |</a:t>
            </a:r>
          </a:p>
          <a:p>
            <a:r>
              <a:t>| Troubleshooting Workshop | Week 17 | 4 IT staff | 2 hours | Yes |</a:t>
            </a:r>
          </a:p>
          <a:p>
            <a:r>
              <a:t>| CloudWatch Training | Week 17 | 3 ops staff | 1.5 hours | Yes |</a:t>
            </a:r>
          </a:p>
          <a:p>
            <a:r>
              <a:t>| A2I Reviewer Training | Week 16 | 8 reviewers | 1 hour | Yes |</a:t>
            </a:r>
          </a:p>
          <a:p>
            <a:r>
              <a:t>| Executive Dashboard | Week 18 | 3 managers | 30 min | Yes |</a:t>
            </a:r>
          </a:p>
          <a:p/>
          <a:p>
            <a:r>
              <a:t>*Runbook Validation:*</a:t>
            </a:r>
          </a:p>
          <a:p>
            <a:r>
              <a:t>- All 12 runbook procedures tested by client IT</a:t>
            </a:r>
          </a:p>
          <a:p>
            <a:r>
              <a:t>- Signed off by [IT Lead] on [Date]</a:t>
            </a:r>
          </a:p>
          <a:p>
            <a:r>
              <a:t>- Procedures validated:</a:t>
            </a:r>
          </a:p>
          <a:p>
            <a:r>
              <a:t>  1. Daily health check</a:t>
            </a:r>
          </a:p>
          <a:p>
            <a:r>
              <a:t>  2. Processing failure investigation</a:t>
            </a:r>
          </a:p>
          <a:p>
            <a:r>
              <a:t>  3. A2I queue management</a:t>
            </a:r>
          </a:p>
          <a:p>
            <a:r>
              <a:t>  4. Integration error handling</a:t>
            </a:r>
          </a:p>
          <a:p>
            <a:r>
              <a:t>  5. Performance troubleshooting</a:t>
            </a:r>
          </a:p>
          <a:p>
            <a:r>
              <a:t>  6. Security incident response</a:t>
            </a:r>
          </a:p>
          <a:p>
            <a:r>
              <a:t>  7. Backup verification</a:t>
            </a:r>
          </a:p>
          <a:p>
            <a:r>
              <a:t>  8. Disaster recovery</a:t>
            </a:r>
          </a:p>
          <a:p>
            <a:r>
              <a:t>  9. User access management</a:t>
            </a:r>
          </a:p>
          <a:p>
            <a:r>
              <a:t>  10. Cost monitoring</a:t>
            </a:r>
          </a:p>
          <a:p>
            <a:r>
              <a:t>  11. Capacity management</a:t>
            </a:r>
          </a:p>
          <a:p>
            <a:r>
              <a:t>  12. Emergency contacts</a:t>
            </a:r>
          </a:p>
          <a:p/>
          <a:p>
            <a:r>
              <a:t>**Steady State Support Model:**</a:t>
            </a:r>
          </a:p>
          <a:p/>
          <a:p>
            <a:r>
              <a:t>*What Client Team Handles (L1/L2):*</a:t>
            </a:r>
          </a:p>
          <a:p>
            <a:r>
              <a:t>- Daily monitoring via CloudWatch dashboards</a:t>
            </a:r>
          </a:p>
          <a:p>
            <a:r>
              <a:t>- A2I queue management</a:t>
            </a:r>
          </a:p>
          <a:p>
            <a:r>
              <a:t>- User access administration</a:t>
            </a:r>
          </a:p>
          <a:p>
            <a:r>
              <a:t>- Basic troubleshooting (per runbook)</a:t>
            </a:r>
          </a:p>
          <a:p>
            <a:r>
              <a:t>- Monthly cost review</a:t>
            </a:r>
          </a:p>
          <a:p>
            <a:r>
              <a:t>- Performance trend monitoring</a:t>
            </a:r>
          </a:p>
          <a:p/>
          <a:p>
            <a:r>
              <a:t>*When to Escalate to Vendor (L3):*</a:t>
            </a:r>
          </a:p>
          <a:p>
            <a:r>
              <a:t>- Accuracy degradation below 93%</a:t>
            </a:r>
          </a:p>
          <a:p>
            <a:r>
              <a:t>- Processing failures &gt;5% rate</a:t>
            </a:r>
          </a:p>
          <a:p>
            <a:r>
              <a:t>- Integration issues not resolved by runbook</a:t>
            </a:r>
          </a:p>
          <a:p>
            <a:r>
              <a:t>- New document type implementation</a:t>
            </a:r>
          </a:p>
          <a:p>
            <a:r>
              <a:t>- Significant architecture changes</a:t>
            </a:r>
          </a:p>
          <a:p>
            <a:r>
              <a:t>- AWS service limit increases</a:t>
            </a:r>
          </a:p>
          <a:p/>
          <a:p>
            <a:r>
              <a:t>**Monthly Operational Tasks:**</a:t>
            </a:r>
          </a:p>
          <a:p>
            <a:r>
              <a:t>- Week 1: Review accuracy trends, identify issues</a:t>
            </a:r>
          </a:p>
          <a:p>
            <a:r>
              <a:t>- Week 2: Cost optimization review</a:t>
            </a:r>
          </a:p>
          <a:p>
            <a:r>
              <a:t>- Week 3: Capacity planning check</a:t>
            </a:r>
          </a:p>
          <a:p>
            <a:r>
              <a:t>- Week 4: Performance report generation</a:t>
            </a:r>
          </a:p>
          <a:p/>
          <a:p>
            <a:r>
              <a:t>**Quarterly Tasks:**</a:t>
            </a:r>
          </a:p>
          <a:p>
            <a:r>
              <a:t>- Accuracy validation against new sample set</a:t>
            </a:r>
          </a:p>
          <a:p>
            <a:r>
              <a:t>- AWS service review (new features)</a:t>
            </a:r>
          </a:p>
          <a:p>
            <a:r>
              <a:t>- Security review (IAM, encryption)</a:t>
            </a:r>
          </a:p>
          <a:p>
            <a:r>
              <a:t>- Disaster recovery test</a:t>
            </a:r>
          </a:p>
          <a:p/>
          <a:p>
            <a:r>
              <a:t>**Support Contact Information:**</a:t>
            </a:r>
          </a:p>
          <a:p/>
          <a:p>
            <a:r>
              <a:t>| Role | Name | Email | Phone | Availability |</a:t>
            </a:r>
          </a:p>
          <a:p>
            <a:r>
              <a:t>|------|------|-------|-------|--------------|</a:t>
            </a:r>
          </a:p>
          <a:p>
            <a:r>
              <a:t>| IT Lead | [Name] | [email] | [phone] | Business hours |</a:t>
            </a:r>
          </a:p>
          <a:p>
            <a:r>
              <a:t>| A2I Queue Manager | [Name] | [email] | [phone] | Business hours |</a:t>
            </a:r>
          </a:p>
          <a:p>
            <a:r>
              <a:t>| On-Call (emergency) | IT Duty | [email] | [phone] | 24/7 |</a:t>
            </a:r>
          </a:p>
          <a:p>
            <a:r>
              <a:t>| Vendor Support (optional) | Support Team | support@vendor.com | 555-xxx-xxxx | Per contract |</a:t>
            </a:r>
          </a:p>
          <a:p/>
          <a:p>
            <a:r>
              <a:t>**Optional Managed Services:**</a:t>
            </a:r>
          </a:p>
          <a:p>
            <a:r>
              <a:t>- Available if client wants ongoing vendor support</a:t>
            </a:r>
          </a:p>
          <a:p>
            <a:r>
              <a:t>- Scope: 24/7 monitoring, proactive optimization, quarterly reviews</a:t>
            </a:r>
          </a:p>
          <a:p>
            <a:r>
              <a:t>- Separate contract required</a:t>
            </a:r>
          </a:p>
          <a:p>
            <a:r>
              <a:t>- Recommended for: Expanding to additional document types</a:t>
            </a:r>
          </a:p>
          <a:p/>
          <a:p>
            <a:r>
              <a:t>*Transition:*</a:t>
            </a:r>
          </a:p>
          <a:p>
            <a:r>
              <a:t>"Let me acknowledge the team that made this possible and outline next steps..."</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*Acknowledgments - Recognize Key Contributors:*</a:t>
            </a:r>
          </a:p>
          <a:p/>
          <a:p>
            <a:r>
              <a:t>**Client Team Recognition:**</a:t>
            </a:r>
          </a:p>
          <a:p/>
          <a:p>
            <a:r>
              <a:t>*Executive Sponsor - [Name]:*</a:t>
            </a:r>
          </a:p>
          <a:p>
            <a:r>
              <a:t>- Championed the project from discovery through go-live</a:t>
            </a:r>
          </a:p>
          <a:p>
            <a:r>
              <a:t>- Secured budget and organizational support</a:t>
            </a:r>
          </a:p>
          <a:p>
            <a:r>
              <a:t>- Removed blockers when escalated</a:t>
            </a:r>
          </a:p>
          <a:p>
            <a:r>
              <a:t>- Key decision: Approved parallel processing cutover approach</a:t>
            </a:r>
          </a:p>
          <a:p/>
          <a:p>
            <a:r>
              <a:t>*IT Lead - [Name]:*</a:t>
            </a:r>
          </a:p>
          <a:p>
            <a:r>
              <a:t>- Technical counterpart throughout implementation</a:t>
            </a:r>
          </a:p>
          <a:p>
            <a:r>
              <a:t>- AWS account setup and access coordination</a:t>
            </a:r>
          </a:p>
          <a:p>
            <a:r>
              <a:t>- Security and compliance validation</a:t>
            </a:r>
          </a:p>
          <a:p>
            <a:r>
              <a:t>- Knowledge transfer recipient and future owner</a:t>
            </a:r>
          </a:p>
          <a:p/>
          <a:p>
            <a:r>
              <a:t>*Business Lead - [Name]:*</a:t>
            </a:r>
          </a:p>
          <a:p>
            <a:r>
              <a:t>- Requirements definition and validation</a:t>
            </a:r>
          </a:p>
          <a:p>
            <a:r>
              <a:t>- UAT coordination and sign-off</a:t>
            </a:r>
          </a:p>
          <a:p>
            <a:r>
              <a:t>- User training logistics</a:t>
            </a:r>
          </a:p>
          <a:p>
            <a:r>
              <a:t>- Change management champion</a:t>
            </a:r>
          </a:p>
          <a:p/>
          <a:p>
            <a:r>
              <a:t>*Document Processing Team:*</a:t>
            </a:r>
          </a:p>
          <a:p>
            <a:r>
              <a:t>- Labeled 2,500 training documents</a:t>
            </a:r>
          </a:p>
          <a:p>
            <a:r>
              <a:t>- Participated in all UAT sessions</a:t>
            </a:r>
          </a:p>
          <a:p>
            <a:r>
              <a:t>- Provided critical feedback during pilot</a:t>
            </a:r>
          </a:p>
          <a:p>
            <a:r>
              <a:t>- Transitioned to A2I reviewer roles</a:t>
            </a:r>
          </a:p>
          <a:p/>
          <a:p>
            <a:r>
              <a:t>*Data/Analytics Team:*</a:t>
            </a:r>
          </a:p>
          <a:p>
            <a:r>
              <a:t>- Accuracy validation methodology</a:t>
            </a:r>
          </a:p>
          <a:p>
            <a:r>
              <a:t>- Ground truth dataset creation</a:t>
            </a:r>
          </a:p>
          <a:p>
            <a:r>
              <a:t>- Performance metrics definition</a:t>
            </a:r>
          </a:p>
          <a:p/>
          <a:p>
            <a:r>
              <a:t>**Vendor Team Recognition:**</a:t>
            </a:r>
          </a:p>
          <a:p/>
          <a:p>
            <a:r>
              <a:t>*Project Manager - [Name]:*</a:t>
            </a:r>
          </a:p>
          <a:p>
            <a:r>
              <a:t>- Overall delivery accountability</a:t>
            </a:r>
          </a:p>
          <a:p>
            <a:r>
              <a:t>- Stakeholder communication</a:t>
            </a:r>
          </a:p>
          <a:p>
            <a:r>
              <a:t>- Risk and issue management</a:t>
            </a:r>
          </a:p>
          <a:p>
            <a:r>
              <a:t>- On-time, on-budget delivery</a:t>
            </a:r>
          </a:p>
          <a:p/>
          <a:p>
            <a:r>
              <a:t>*Solutions Architect - [Name]:*</a:t>
            </a:r>
          </a:p>
          <a:p>
            <a:r>
              <a:t>- AWS architecture design</a:t>
            </a:r>
          </a:p>
          <a:p>
            <a:r>
              <a:t>- Textract/Comprehend optimization</a:t>
            </a:r>
          </a:p>
          <a:p>
            <a:r>
              <a:t>- Integration design and implementation</a:t>
            </a:r>
          </a:p>
          <a:p>
            <a:r>
              <a:t>- Technical documentation</a:t>
            </a:r>
          </a:p>
          <a:p/>
          <a:p>
            <a:r>
              <a:t>*ML Engineer - [Name]:*</a:t>
            </a:r>
          </a:p>
          <a:p>
            <a:r>
              <a:t>- A2I workflow configuration</a:t>
            </a:r>
          </a:p>
          <a:p>
            <a:r>
              <a:t>- Comprehend custom entity setup</a:t>
            </a:r>
          </a:p>
          <a:p>
            <a:r>
              <a:t>- Accuracy tuning and optimization</a:t>
            </a:r>
          </a:p>
          <a:p>
            <a:r>
              <a:t>- Performance optimization</a:t>
            </a:r>
          </a:p>
          <a:p/>
          <a:p>
            <a:r>
              <a:t>*Support Team:*</a:t>
            </a:r>
          </a:p>
          <a:p>
            <a:r>
              <a:t>- Hypercare support delivery</a:t>
            </a:r>
          </a:p>
          <a:p>
            <a:r>
              <a:t>- Knowledge transfer sessions</a:t>
            </a:r>
          </a:p>
          <a:p>
            <a:r>
              <a:t>- Runbook creation and validation</a:t>
            </a:r>
          </a:p>
          <a:p/>
          <a:p>
            <a:r>
              <a:t>**Special Recognition:**</a:t>
            </a:r>
          </a:p>
          <a:p>
            <a:r>
              <a:t>"I want to especially thank the document processing team. They spent over 40 hours labeling training documents, participated in every UAT session, and provided invaluable feedback. Their expertise in understanding document variations was critical to achieving 96.2% accuracy. They've now transitioned to managing the A2I review queue and are finding the new process 'much better than the old way.'"</a:t>
            </a:r>
          </a:p>
          <a:p/>
          <a:p>
            <a:r>
              <a:t>**Immediate Next Steps (This Week):**</a:t>
            </a:r>
          </a:p>
          <a:p/>
          <a:p>
            <a:r>
              <a:t>| Task | Owner | Due Date |</a:t>
            </a:r>
          </a:p>
          <a:p>
            <a:r>
              <a:t>|------|-------|----------|</a:t>
            </a:r>
          </a:p>
          <a:p>
            <a:r>
              <a:t>| Final documentation handover | PM | [Date] |</a:t>
            </a:r>
          </a:p>
          <a:p>
            <a:r>
              <a:t>| Archive project SharePoint site | PM | [Date] |</a:t>
            </a:r>
          </a:p>
          <a:p>
            <a:r>
              <a:t>| Close project tracking | PM | [Date] |</a:t>
            </a:r>
          </a:p>
          <a:p>
            <a:r>
              <a:t>| Update asset inventory | IT Lead | [Date] |</a:t>
            </a:r>
          </a:p>
          <a:p>
            <a:r>
              <a:t>| Confirm support contacts | IT Lead | [Date] |</a:t>
            </a:r>
          </a:p>
          <a:p/>
          <a:p>
            <a:r>
              <a:t>**30-Day Next Steps:**</a:t>
            </a:r>
          </a:p>
          <a:p/>
          <a:p>
            <a:r>
              <a:t>| Task | Owner | Due Date |</a:t>
            </a:r>
          </a:p>
          <a:p>
            <a:r>
              <a:t>|------|-------|----------|</a:t>
            </a:r>
          </a:p>
          <a:p>
            <a:r>
              <a:t>| First monthly performance review | IT Lead | [Date+30] |</a:t>
            </a:r>
          </a:p>
          <a:p>
            <a:r>
              <a:t>| Accuracy trend analysis | Business Lead | [Date+30] |</a:t>
            </a:r>
          </a:p>
          <a:p>
            <a:r>
              <a:t>| Cost optimization review | IT Lead | [Date+30] |</a:t>
            </a:r>
          </a:p>
          <a:p>
            <a:r>
              <a:t>| Identify Phase 2 candidates | Business Lead | [Date+30] |</a:t>
            </a:r>
          </a:p>
          <a:p>
            <a:r>
              <a:t>| User satisfaction survey | PM | [Date+30] |</a:t>
            </a:r>
          </a:p>
          <a:p/>
          <a:p>
            <a:r>
              <a:t>**Quarterly Planning (Next Quarter):**</a:t>
            </a:r>
          </a:p>
          <a:p>
            <a:r>
              <a:t>- Phase 2 planning workshop</a:t>
            </a:r>
          </a:p>
          <a:p>
            <a:r>
              <a:t>- Document type prioritization</a:t>
            </a:r>
          </a:p>
          <a:p>
            <a:r>
              <a:t>- Business case development</a:t>
            </a:r>
          </a:p>
          <a:p>
            <a:r>
              <a:t>- Resource planning</a:t>
            </a:r>
          </a:p>
          <a:p>
            <a:r>
              <a:t>- Timeline estimation</a:t>
            </a:r>
          </a:p>
          <a:p/>
          <a:p>
            <a:r>
              <a:t>**Phase 2 Candidate Document Types:**</a:t>
            </a:r>
          </a:p>
          <a:p>
            <a:r>
              <a:t>Based on discovery findings, recommended priorities:</a:t>
            </a:r>
          </a:p>
          <a:p/>
          <a:p>
            <a:r>
              <a:t>| Document Type | Volume/Month | Complexity | Est. ROI |</a:t>
            </a:r>
          </a:p>
          <a:p>
            <a:r>
              <a:t>|---------------|--------------|------------|----------|</a:t>
            </a:r>
          </a:p>
          <a:p>
            <a:r>
              <a:t>| Shipping Documents | 800 | Medium | $25K/year |</a:t>
            </a:r>
          </a:p>
          <a:p>
            <a:r>
              <a:t>| Expense Reports | 400 | Low | $15K/year |</a:t>
            </a:r>
          </a:p>
          <a:p>
            <a:r>
              <a:t>| Vendor Applications | 200 | High | $10K/year |</a:t>
            </a:r>
          </a:p>
          <a:p/>
          <a:p>
            <a:r>
              <a:t>Recommendation: Start with Shipping Documents (highest ROI, medium complexity)</a:t>
            </a:r>
          </a:p>
          <a:p/>
          <a:p>
            <a:r>
              <a:t>*Transition:*</a:t>
            </a:r>
          </a:p>
          <a:p>
            <a:r>
              <a:t>"Thank you for your partnership on this project. Let me open the floor for questions..."</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*Closing and Q&amp;A Preparation:*</a:t>
            </a:r>
          </a:p>
          <a:p/>
          <a:p>
            <a:r>
              <a:t>**Closing Statement:**</a:t>
            </a:r>
          </a:p>
          <a:p>
            <a:r>
              <a:t>"Thank you for your partnership throughout this project. We've successfully transformed document processing from a manual bottleneck into an automated, AI-powered workflow. The solution is exceeding our accuracy targets, the team is trained and ready, and you're already seeing measurable business value.</a:t>
            </a:r>
          </a:p>
          <a:p/>
          <a:p>
            <a:r>
              <a:t>I want to open the floor for questions. We have [time] remaining."</a:t>
            </a:r>
          </a:p>
          <a:p/>
          <a:p>
            <a:r>
              <a:t>**Anticipated Questions and Prepared Answers:**</a:t>
            </a:r>
          </a:p>
          <a:p/>
          <a:p>
            <a:r>
              <a:t>*Q: What happens if Textract accuracy drops?*</a:t>
            </a:r>
          </a:p>
          <a:p>
            <a:r>
              <a:t>A: We have CloudWatch alarms set at 93% threshold. If accuracy drops below this, you'll receive an alert. The runbook has a procedure for accuracy investigation. Common causes are new document formats or quality issues. A2I review catches most issues in the meantime. For persistent problems, vendor support can assist with Comprehend entity tuning.</a:t>
            </a:r>
          </a:p>
          <a:p/>
          <a:p>
            <a:r>
              <a:t>*Q: Can we add new document types ourselves?*</a:t>
            </a:r>
          </a:p>
          <a:p>
            <a:r>
              <a:t>A: Adding new document types requires: (1) Sample documents for testing, (2) Textract/Comprehend configuration, (3) Integration mapping, (4) Testing and validation. This is typically a 4-6 week effort best done with vendor assistance to ensure accuracy targets are met. Budget $15-20K per document type.</a:t>
            </a:r>
          </a:p>
          <a:p/>
          <a:p>
            <a:r>
              <a:t>*Q: What are the ongoing AWS costs?*</a:t>
            </a:r>
          </a:p>
          <a:p>
            <a:r>
              <a:t>A: Current run rate is approximately $2,200/month:</a:t>
            </a:r>
          </a:p>
          <a:p>
            <a:r>
              <a:t>- Textract: $1,500/month (based on 3,000 docs)</a:t>
            </a:r>
          </a:p>
          <a:p>
            <a:r>
              <a:t>- Comprehend: $200/month</a:t>
            </a:r>
          </a:p>
          <a:p>
            <a:r>
              <a:t>- Lambda/Step Functions: $150/month</a:t>
            </a:r>
          </a:p>
          <a:p>
            <a:r>
              <a:t>- S3/DynamoDB: $100/month</a:t>
            </a:r>
          </a:p>
          <a:p>
            <a:r>
              <a:t>- Other (API Gateway, CloudWatch): $250/month</a:t>
            </a:r>
          </a:p>
          <a:p>
            <a:r>
              <a:t>Costs scale roughly linearly with document volume.</a:t>
            </a:r>
          </a:p>
          <a:p/>
          <a:p>
            <a:r>
              <a:t>*Q: How do we handle a surge in document volume?*</a:t>
            </a:r>
          </a:p>
          <a:p>
            <a:r>
              <a:t>A: The serverless architecture automatically scales. Lambda will scale concurrent executions up to your limit (currently 100, can be increased). Textract and Comprehend are fully managed and scale automatically. For planned surges, give us a heads-up so we can verify service limits.</a:t>
            </a:r>
          </a:p>
          <a:p/>
          <a:p>
            <a:r>
              <a:t>*Q: What if a key team member leaves?*</a:t>
            </a:r>
          </a:p>
          <a:p>
            <a:r>
              <a:t>A: All knowledge is documented in the operations runbook and training materials. Video recordings of all training sessions are available. The CloudFormation templates allow environment rebuild. We recommend cross-training at least two people on each function.</a:t>
            </a:r>
          </a:p>
          <a:p/>
          <a:p>
            <a:r>
              <a:t>*Q: Is the data secure?*</a:t>
            </a:r>
          </a:p>
          <a:p>
            <a:r>
              <a:t>A: Yes. All data encrypted at rest (KMS) and in transit (TLS 1.2+). IAM roles follow least privilege. CloudTrail logs all access. No document data leaves your AWS account. SOC 2 compliance maintained. We can provide security documentation for auditors.</a:t>
            </a:r>
          </a:p>
          <a:p/>
          <a:p>
            <a:r>
              <a:t>*Q: What's the disaster recovery plan?*</a:t>
            </a:r>
          </a:p>
          <a:p>
            <a:r>
              <a:t>A: RTO is 4 hours, RPO is 1 hour. S3 has versioning enabled, DynamoDB has point-in-time recovery. CloudFormation templates can rebuild infrastructure in a new region. The runbook has complete DR procedures. We recommend annual DR testing.</a:t>
            </a:r>
          </a:p>
          <a:p/>
          <a:p>
            <a:r>
              <a:t>*Q: Can this integrate with our new [system]?*</a:t>
            </a:r>
          </a:p>
          <a:p>
            <a:r>
              <a:t>A: The architecture supports additional integrations. We designed the API layer to be extensible. A new REST API integration typically takes 2-3 weeks. More complex integrations (batch, event-driven) may take longer. Happy to scope a specific integration.</a:t>
            </a:r>
          </a:p>
          <a:p/>
          <a:p>
            <a:r>
              <a:t>*Q: What about PII/sensitive data?*</a:t>
            </a:r>
          </a:p>
          <a:p>
            <a:r>
              <a:t>A: Amazon Comprehend has PII detection enabled. We can identify SSNs, account numbers, etc. Current configuration logs PII detection but doesn't redact. If you need redaction, we can configure that as an enhancement.</a:t>
            </a:r>
          </a:p>
          <a:p/>
          <a:p>
            <a:r>
              <a:t>*Q: When should we start Phase 2?*</a:t>
            </a:r>
          </a:p>
          <a:p>
            <a:r>
              <a:t>A: I recommend waiting 60-90 days to:</a:t>
            </a:r>
          </a:p>
          <a:p>
            <a:r>
              <a:t>1. Establish stable operational patterns</a:t>
            </a:r>
          </a:p>
          <a:p>
            <a:r>
              <a:t>2. Gather enough data for accurate ROI calculations</a:t>
            </a:r>
          </a:p>
          <a:p>
            <a:r>
              <a:t>3. Build internal team confidence</a:t>
            </a:r>
          </a:p>
          <a:p>
            <a:r>
              <a:t>4. Identify any optimization opportunities</a:t>
            </a:r>
          </a:p>
          <a:p>
            <a:r>
              <a:t>Then we can do a Phase 2 planning workshop to prioritize document types.</a:t>
            </a:r>
          </a:p>
          <a:p/>
          <a:p>
            <a:r>
              <a:t>**Demo Offer:**</a:t>
            </a:r>
          </a:p>
          <a:p>
            <a:r>
              <a:t>"Would anyone like to see a live document processing demo? I can show you the submission, processing, and results retrieval flow."</a:t>
            </a:r>
          </a:p>
          <a:p/>
          <a:p>
            <a:r>
              <a:t>**Follow-Up Commitments:**</a:t>
            </a:r>
          </a:p>
          <a:p>
            <a:r>
              <a:t>- [ ] Send final presentation deck to all attendees</a:t>
            </a:r>
          </a:p>
          <a:p>
            <a:r>
              <a:t>- [ ] Distribute project summary one-pager for executives</a:t>
            </a:r>
          </a:p>
          <a:p>
            <a:r>
              <a:t>- [ ] Schedule 30-day performance review meeting</a:t>
            </a:r>
          </a:p>
          <a:p>
            <a:r>
              <a:t>- [ ] Send Phase 2 document type assessment template</a:t>
            </a:r>
          </a:p>
          <a:p>
            <a:r>
              <a:t>- [ ] Provide vendor support contract options (if requested)</a:t>
            </a:r>
          </a:p>
          <a:p/>
          <a:p>
            <a:r>
              <a:t>**Final Closing:**</a:t>
            </a:r>
          </a:p>
          <a:p>
            <a:r>
              <a:t>"Thank you again for your trust in our team. This project demonstrates what's possible when business and technology teams collaborate effectively. We look forward to continuing this partnership in Phase 2 and beyond.</a:t>
            </a:r>
          </a:p>
          <a:p/>
          <a:p>
            <a:r>
              <a:t>Please don't hesitate to reach out to me or [Account Manager] if any questions come up. Have a great [rest of your day/afternoon]."</a:t>
            </a:r>
          </a:p>
          <a:p/>
          <a:p>
            <a:r>
              <a:t>**After the Meeting:**</a:t>
            </a:r>
          </a:p>
          <a:p>
            <a:r>
              <a:t>- Send thank you email within 24 hours</a:t>
            </a:r>
          </a:p>
          <a:p>
            <a:r>
              <a:t>- Attach presentation and summary document</a:t>
            </a:r>
          </a:p>
          <a:p>
            <a:r>
              <a:t>- Include recording link if recorded</a:t>
            </a:r>
          </a:p>
          <a:p>
            <a:r>
              <a:t>- Confirm next meeting date</a:t>
            </a:r>
          </a:p>
          <a:p>
            <a:r>
              <a:t>- Copy all stakeholders</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bin"/></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bin"/></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EO Title Slide">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8D36A0E4-7374-4A92-CEC2-AC1CC29B855F}"/>
              </a:ext>
            </a:extLst>
          </p:cNvPr>
          <p:cNvSpPr>
            <a:spLocks noGrp="1"/>
          </p:cNvSpPr>
          <p:nvPr>
            <p:ph type="pic" sz="quarter" idx="10"/>
          </p:nvPr>
        </p:nvSpPr>
        <p:spPr>
          <a:xfrm>
            <a:off x="2180492" y="171206"/>
            <a:ext cx="3978520" cy="1314694"/>
          </a:xfrm>
          <a:prstGeom prst="rect">
            <a:avLst/>
          </a:prstGeom>
        </p:spPr>
        <p:txBody>
          <a:bodyPr/>
          <a:lstStyle/>
          <a:p>
            <a:endParaRPr lang="en-US" dirty="0"/>
          </a:p>
        </p:txBody>
      </p:sp>
      <p:pic>
        <p:nvPicPr>
          <p:cNvPr id="5" name="Image 0" descr="/home/claude/eo-framework-logo.png">
            <a:extLst>
              <a:ext uri="{FF2B5EF4-FFF2-40B4-BE49-F238E27FC236}">
                <a16:creationId xmlns:a16="http://schemas.microsoft.com/office/drawing/2014/main" id="{028AFAE3-D949-BFF8-132D-C3956962B6BC}"/>
              </a:ext>
            </a:extLst>
          </p:cNvPr>
          <p:cNvPicPr>
            <a:picLocks noChangeAspect="1"/>
          </p:cNvPicPr>
          <p:nvPr userDrawn="1"/>
        </p:nvPicPr>
        <p:blipFill>
          <a:blip r:embed="rId2"/>
          <a:stretch>
            <a:fillRect/>
          </a:stretch>
        </p:blipFill>
        <p:spPr>
          <a:xfrm>
            <a:off x="6945879" y="4648200"/>
            <a:ext cx="1952244" cy="417576"/>
          </a:xfrm>
          <a:prstGeom prst="rect">
            <a:avLst/>
          </a:prstGeom>
        </p:spPr>
      </p:pic>
      <p:sp>
        <p:nvSpPr>
          <p:cNvPr id="6" name="Text Placeholder 8">
            <a:extLst>
              <a:ext uri="{FF2B5EF4-FFF2-40B4-BE49-F238E27FC236}">
                <a16:creationId xmlns:a16="http://schemas.microsoft.com/office/drawing/2014/main" id="{ABC2FEB1-3552-40B4-D5D2-8C9A2DF4EF3E}"/>
              </a:ext>
            </a:extLst>
          </p:cNvPr>
          <p:cNvSpPr>
            <a:spLocks noGrp="1"/>
          </p:cNvSpPr>
          <p:nvPr>
            <p:ph type="body" sz="quarter" idx="12" hasCustomPrompt="1"/>
          </p:nvPr>
        </p:nvSpPr>
        <p:spPr>
          <a:xfrm>
            <a:off x="538528" y="1886679"/>
            <a:ext cx="7671288" cy="527050"/>
          </a:xfrm>
          <a:prstGeom prst="rect">
            <a:avLst/>
          </a:prstGeom>
        </p:spPr>
        <p:txBody>
          <a:bodyPr/>
          <a:lstStyle>
            <a:lvl1pPr marL="0" indent="0" algn="ctr">
              <a:lnSpc>
                <a:spcPts val="3600"/>
              </a:lnSpc>
              <a:buNone/>
              <a:defRPr sz="3600" b="1" i="0" baseline="0">
                <a:latin typeface="Arial" panose="020B0604020202020204" pitchFamily="34" charset="0"/>
              </a:defRPr>
            </a:lvl1pPr>
          </a:lstStyle>
          <a:p>
            <a:pPr marL="0" indent="0" algn="ctr">
              <a:lnSpc>
                <a:spcPts val="3600"/>
              </a:lnSpc>
              <a:buNone/>
            </a:pPr>
            <a:r>
              <a:rPr lang="en-US" sz="3600" b="1" dirty="0">
                <a:solidFill>
                  <a:srgbClr val="2C3E50"/>
                </a:solidFill>
                <a:latin typeface="Arial" pitchFamily="34" charset="0"/>
                <a:ea typeface="Arial" pitchFamily="34" charset="-122"/>
                <a:cs typeface="Arial" pitchFamily="34" charset="-120"/>
              </a:rPr>
              <a:t>Presentation Title</a:t>
            </a:r>
            <a:endParaRPr lang="en-US" sz="3600" dirty="0"/>
          </a:p>
        </p:txBody>
      </p:sp>
      <p:sp>
        <p:nvSpPr>
          <p:cNvPr id="7" name="Picture Placeholder 13">
            <a:extLst>
              <a:ext uri="{FF2B5EF4-FFF2-40B4-BE49-F238E27FC236}">
                <a16:creationId xmlns:a16="http://schemas.microsoft.com/office/drawing/2014/main" id="{86145EB1-48C8-058E-F657-82D57B579544}"/>
              </a:ext>
            </a:extLst>
          </p:cNvPr>
          <p:cNvSpPr>
            <a:spLocks noGrp="1"/>
          </p:cNvSpPr>
          <p:nvPr>
            <p:ph type="pic" sz="quarter" idx="13"/>
          </p:nvPr>
        </p:nvSpPr>
        <p:spPr>
          <a:xfrm>
            <a:off x="313591" y="4536078"/>
            <a:ext cx="2099897" cy="529698"/>
          </a:xfrm>
          <a:prstGeom prst="rect">
            <a:avLst/>
          </a:prstGeom>
        </p:spPr>
        <p:txBody>
          <a:bodyPr/>
          <a:lstStyle/>
          <a:p>
            <a:endParaRPr lang="en-US" dirty="0"/>
          </a:p>
        </p:txBody>
      </p:sp>
      <p:sp>
        <p:nvSpPr>
          <p:cNvPr id="8" name="Text 0">
            <a:extLst>
              <a:ext uri="{FF2B5EF4-FFF2-40B4-BE49-F238E27FC236}">
                <a16:creationId xmlns:a16="http://schemas.microsoft.com/office/drawing/2014/main" id="{D51056DC-8081-0916-0351-65D88D1682B8}"/>
              </a:ext>
            </a:extLst>
          </p:cNvPr>
          <p:cNvSpPr/>
          <p:nvPr userDrawn="1"/>
        </p:nvSpPr>
        <p:spPr>
          <a:xfrm>
            <a:off x="2224455" y="1676475"/>
            <a:ext cx="3886322" cy="45719"/>
          </a:xfrm>
          <a:prstGeom prst="roundRect">
            <a:avLst>
              <a:gd name="adj" fmla="val 50000"/>
            </a:avLst>
          </a:prstGeom>
          <a:solidFill>
            <a:srgbClr val="CC0000"/>
          </a:solidFill>
          <a:ln/>
        </p:spPr>
        <p:txBody>
          <a:bodyPr wrap="square" rtlCol="0" anchor="ctr"/>
          <a:lstStyle/>
          <a:p>
            <a:pPr marL="0" indent="0">
              <a:buNone/>
            </a:pPr>
            <a:endParaRPr lang="en-US" dirty="0"/>
          </a:p>
        </p:txBody>
      </p:sp>
      <p:sp>
        <p:nvSpPr>
          <p:cNvPr id="10" name="Text Placeholder 9">
            <a:extLst>
              <a:ext uri="{FF2B5EF4-FFF2-40B4-BE49-F238E27FC236}">
                <a16:creationId xmlns:a16="http://schemas.microsoft.com/office/drawing/2014/main" id="{DC531180-94E5-3403-56E5-895E003A9D72}"/>
              </a:ext>
            </a:extLst>
          </p:cNvPr>
          <p:cNvSpPr>
            <a:spLocks noGrp="1"/>
          </p:cNvSpPr>
          <p:nvPr>
            <p:ph type="body" sz="quarter" idx="14" hasCustomPrompt="1"/>
          </p:nvPr>
        </p:nvSpPr>
        <p:spPr>
          <a:xfrm>
            <a:off x="1059473" y="2437679"/>
            <a:ext cx="6629399" cy="334598"/>
          </a:xfrm>
          <a:prstGeom prst="rect">
            <a:avLst/>
          </a:prstGeom>
        </p:spPr>
        <p:txBody>
          <a:bodyPr/>
          <a:lstStyle>
            <a:lvl1pPr marL="0" marR="0" indent="0" algn="ctr" defTabSz="914400" rtl="0" eaLnBrk="1" fontAlgn="auto" latinLnBrk="0" hangingPunct="1">
              <a:lnSpc>
                <a:spcPct val="100000"/>
              </a:lnSpc>
              <a:spcBef>
                <a:spcPct val="20000"/>
              </a:spcBef>
              <a:spcAft>
                <a:spcPts val="0"/>
              </a:spcAft>
              <a:buClrTx/>
              <a:buSzTx/>
              <a:buFont typeface="Arial" pitchFamily="34" charset="0"/>
              <a:buNone/>
              <a:tabLst/>
              <a:defRPr sz="1800">
                <a:latin typeface="Arial" panose="020B0604020202020204" pitchFamily="34" charset="0"/>
                <a:cs typeface="Arial" panose="020B0604020202020204" pitchFamily="34" charset="0"/>
              </a:defRPr>
            </a:lvl1p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lang="en-US" sz="1800" dirty="0">
                <a:solidFill>
                  <a:srgbClr val="6C757D"/>
                </a:solidFill>
                <a:latin typeface="Arial" pitchFamily="34" charset="0"/>
                <a:ea typeface="Arial" pitchFamily="34" charset="-122"/>
                <a:cs typeface="Arial" pitchFamily="34" charset="-120"/>
              </a:rPr>
              <a:t>Subtitle Text</a:t>
            </a:r>
            <a:endParaRPr lang="en-US" sz="1800" dirty="0"/>
          </a:p>
        </p:txBody>
      </p:sp>
      <p:sp>
        <p:nvSpPr>
          <p:cNvPr id="12" name="Text Placeholder 11">
            <a:extLst>
              <a:ext uri="{FF2B5EF4-FFF2-40B4-BE49-F238E27FC236}">
                <a16:creationId xmlns:a16="http://schemas.microsoft.com/office/drawing/2014/main" id="{39F5D3C5-0033-51A7-77BC-7E3DBBF84F2E}"/>
              </a:ext>
            </a:extLst>
          </p:cNvPr>
          <p:cNvSpPr>
            <a:spLocks noGrp="1"/>
          </p:cNvSpPr>
          <p:nvPr>
            <p:ph type="body" sz="quarter" idx="15" hasCustomPrompt="1"/>
          </p:nvPr>
        </p:nvSpPr>
        <p:spPr>
          <a:xfrm>
            <a:off x="2734286" y="3631467"/>
            <a:ext cx="3605212" cy="334963"/>
          </a:xfrm>
          <a:prstGeom prst="rect">
            <a:avLst/>
          </a:prstGeom>
        </p:spPr>
        <p:txBody>
          <a:bodyPr/>
          <a:lstStyle>
            <a:lvl1pPr marL="0" marR="0" indent="0" algn="ctr" defTabSz="914400" rtl="0" eaLnBrk="1" fontAlgn="auto" latinLnBrk="0" hangingPunct="1">
              <a:lnSpc>
                <a:spcPct val="100000"/>
              </a:lnSpc>
              <a:spcBef>
                <a:spcPct val="20000"/>
              </a:spcBef>
              <a:spcAft>
                <a:spcPts val="0"/>
              </a:spcAft>
              <a:buClrTx/>
              <a:buSzTx/>
              <a:buFont typeface="Arial" pitchFamily="34" charset="0"/>
              <a:buNone/>
              <a:tabLst/>
              <a:defRPr sz="1400">
                <a:latin typeface="Arial" panose="020B0604020202020204" pitchFamily="34" charset="0"/>
                <a:cs typeface="Arial" panose="020B0604020202020204" pitchFamily="34" charset="0"/>
              </a:defRPr>
            </a:lvl1pPr>
          </a:lstStyle>
          <a:p>
            <a:pPr lvl="0"/>
            <a:r>
              <a:rPr lang="en-US" sz="1400" dirty="0">
                <a:solidFill>
                  <a:srgbClr val="6C757D"/>
                </a:solidFill>
                <a:latin typeface="Arial" pitchFamily="34" charset="0"/>
                <a:cs typeface="Arial" pitchFamily="34" charset="-120"/>
              </a:rPr>
              <a:t>Presenter Name | Date</a:t>
            </a:r>
            <a:endParaRPr lang="en-US" dirty="0"/>
          </a:p>
        </p:txBody>
      </p:sp>
    </p:spTree>
    <p:extLst>
      <p:ext uri="{BB962C8B-B14F-4D97-AF65-F5344CB8AC3E}">
        <p14:creationId xmlns:p14="http://schemas.microsoft.com/office/powerpoint/2010/main" val="14114350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EO Single Column">
    <p:spTree>
      <p:nvGrpSpPr>
        <p:cNvPr id="1" name=""/>
        <p:cNvGrpSpPr/>
        <p:nvPr/>
      </p:nvGrpSpPr>
      <p:grpSpPr>
        <a:xfrm>
          <a:off x="0" y="0"/>
          <a:ext cx="0" cy="0"/>
          <a:chOff x="0" y="0"/>
          <a:chExt cx="0" cy="0"/>
        </a:xfrm>
      </p:grpSpPr>
      <p:sp>
        <p:nvSpPr>
          <p:cNvPr id="12" name="Picture Placeholder 13">
            <a:extLst>
              <a:ext uri="{FF2B5EF4-FFF2-40B4-BE49-F238E27FC236}">
                <a16:creationId xmlns:a16="http://schemas.microsoft.com/office/drawing/2014/main" id="{2DB97592-C4D5-B315-7F11-AA14F6EE8A62}"/>
              </a:ext>
            </a:extLst>
          </p:cNvPr>
          <p:cNvSpPr>
            <a:spLocks noGrp="1"/>
          </p:cNvSpPr>
          <p:nvPr>
            <p:ph type="pic" sz="quarter" idx="13"/>
          </p:nvPr>
        </p:nvSpPr>
        <p:spPr>
          <a:xfrm>
            <a:off x="313593" y="4536078"/>
            <a:ext cx="2143858" cy="529698"/>
          </a:xfrm>
          <a:prstGeom prst="rect">
            <a:avLst/>
          </a:prstGeom>
        </p:spPr>
        <p:txBody>
          <a:bodyPr/>
          <a:lstStyle/>
          <a:p>
            <a:endParaRPr lang="en-US" dirty="0"/>
          </a:p>
        </p:txBody>
      </p:sp>
      <p:sp>
        <p:nvSpPr>
          <p:cNvPr id="3" name="Shape 1">
            <a:extLst>
              <a:ext uri="{FF2B5EF4-FFF2-40B4-BE49-F238E27FC236}">
                <a16:creationId xmlns:a16="http://schemas.microsoft.com/office/drawing/2014/main" id="{4EA828A1-D5D6-9ADA-1918-E5FE226673A0}"/>
              </a:ext>
            </a:extLst>
          </p:cNvPr>
          <p:cNvSpPr/>
          <p:nvPr userDrawn="1"/>
        </p:nvSpPr>
        <p:spPr>
          <a:xfrm>
            <a:off x="0" y="606304"/>
            <a:ext cx="9144000" cy="0"/>
          </a:xfrm>
          <a:prstGeom prst="line">
            <a:avLst/>
          </a:prstGeom>
          <a:noFill/>
          <a:ln w="28575">
            <a:solidFill>
              <a:srgbClr val="CC0000"/>
            </a:solidFill>
            <a:prstDash val="solid"/>
          </a:ln>
        </p:spPr>
        <p:txBody>
          <a:bodyPr/>
          <a:lstStyle/>
          <a:p>
            <a:endParaRPr lang="en-US"/>
          </a:p>
        </p:txBody>
      </p:sp>
      <p:sp>
        <p:nvSpPr>
          <p:cNvPr id="9" name="Text Placeholder 8">
            <a:extLst>
              <a:ext uri="{FF2B5EF4-FFF2-40B4-BE49-F238E27FC236}">
                <a16:creationId xmlns:a16="http://schemas.microsoft.com/office/drawing/2014/main" id="{980A86D4-478F-6846-9F0A-B815F2A3AB2D}"/>
              </a:ext>
            </a:extLst>
          </p:cNvPr>
          <p:cNvSpPr>
            <a:spLocks noGrp="1"/>
          </p:cNvSpPr>
          <p:nvPr>
            <p:ph type="body" sz="quarter" idx="10" hasCustomPrompt="1"/>
          </p:nvPr>
        </p:nvSpPr>
        <p:spPr>
          <a:xfrm>
            <a:off x="296863" y="0"/>
            <a:ext cx="8509304" cy="527008"/>
          </a:xfrm>
          <a:prstGeom prst="rect">
            <a:avLst/>
          </a:prstGeom>
        </p:spPr>
        <p:txBody>
          <a:bodyPr/>
          <a:lstStyle>
            <a:lvl1pPr marL="0" marR="0" indent="0" algn="l" defTabSz="914400" rtl="0" eaLnBrk="1" fontAlgn="auto" latinLnBrk="0" hangingPunct="1">
              <a:lnSpc>
                <a:spcPct val="100000"/>
              </a:lnSpc>
              <a:spcBef>
                <a:spcPct val="20000"/>
              </a:spcBef>
              <a:spcAft>
                <a:spcPts val="0"/>
              </a:spcAft>
              <a:buClrTx/>
              <a:buSzTx/>
              <a:buFont typeface="Arial" pitchFamily="34" charset="0"/>
              <a:buNone/>
              <a:tabLst/>
              <a:defRPr sz="2700" b="1">
                <a:latin typeface="Arial" panose="020B0604020202020204" pitchFamily="34" charset="0"/>
                <a:cs typeface="Arial" panose="020B0604020202020204" pitchFamily="34" charset="0"/>
              </a:defRPr>
            </a:lvl1pPr>
          </a:lstStyle>
          <a:p>
            <a:pPr lvl="0"/>
            <a:r>
              <a:rPr lang="en-US" dirty="0"/>
              <a:t>Slide Title</a:t>
            </a:r>
          </a:p>
        </p:txBody>
      </p:sp>
      <p:sp>
        <p:nvSpPr>
          <p:cNvPr id="4" name="Text Placeholder 3">
            <a:extLst>
              <a:ext uri="{FF2B5EF4-FFF2-40B4-BE49-F238E27FC236}">
                <a16:creationId xmlns:a16="http://schemas.microsoft.com/office/drawing/2014/main" id="{54BEE1A0-720D-187D-95F8-429F3DF3D64E}"/>
              </a:ext>
            </a:extLst>
          </p:cNvPr>
          <p:cNvSpPr>
            <a:spLocks noGrp="1"/>
          </p:cNvSpPr>
          <p:nvPr>
            <p:ph type="body" sz="quarter" idx="14"/>
          </p:nvPr>
        </p:nvSpPr>
        <p:spPr>
          <a:xfrm>
            <a:off x="296863" y="685601"/>
            <a:ext cx="8548687" cy="3811657"/>
          </a:xfrm>
          <a:prstGeom prst="rect">
            <a:avLst/>
          </a:prstGeom>
        </p:spPr>
        <p:txBody>
          <a:bodyPr/>
          <a:lstStyle>
            <a:lvl1pPr>
              <a:defRPr sz="2000" b="1" baseline="0">
                <a:solidFill>
                  <a:srgbClr val="C00000"/>
                </a:solidFill>
              </a:defRPr>
            </a:lvl1pPr>
            <a:lvl2pPr>
              <a:buFont typeface="Arial" panose="020B0604020202020204" pitchFamily="34" charset="0"/>
              <a:buChar char="•"/>
              <a:defRPr sz="1600"/>
            </a:lvl2pPr>
            <a:lvl3pPr>
              <a:defRPr sz="1400"/>
            </a:lvl3pPr>
            <a:lvl4pPr>
              <a:buFont typeface="Arial" panose="020B0604020202020204" pitchFamily="34" charset="0"/>
              <a:buChar char="•"/>
              <a:defRPr sz="1200"/>
            </a:lvl4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5" name="Text Placeholder 4">
            <a:extLst>
              <a:ext uri="{FF2B5EF4-FFF2-40B4-BE49-F238E27FC236}">
                <a16:creationId xmlns:a16="http://schemas.microsoft.com/office/drawing/2014/main" id="{57F71806-AFEA-DD6D-E6AA-E2A002E682DE}"/>
              </a:ext>
            </a:extLst>
          </p:cNvPr>
          <p:cNvSpPr>
            <a:spLocks noGrp="1"/>
          </p:cNvSpPr>
          <p:nvPr>
            <p:ph type="body" sz="quarter" idx="15" hasCustomPrompt="1"/>
          </p:nvPr>
        </p:nvSpPr>
        <p:spPr>
          <a:xfrm>
            <a:off x="5627076" y="4738688"/>
            <a:ext cx="3218473" cy="238125"/>
          </a:xfrm>
          <a:prstGeom prst="rect">
            <a:avLst/>
          </a:prstGeom>
        </p:spPr>
        <p:txBody>
          <a:bodyPr/>
          <a:lstStyle>
            <a:lvl5pPr algn="r">
              <a:buNone/>
              <a:defRPr sz="1100"/>
            </a:lvl5pPr>
          </a:lstStyle>
          <a:p>
            <a:pPr lvl="4"/>
            <a:r>
              <a:rPr lang="en-US" dirty="0"/>
              <a:t>Project Name</a:t>
            </a:r>
          </a:p>
        </p:txBody>
      </p:sp>
    </p:spTree>
    <p:extLst>
      <p:ext uri="{BB962C8B-B14F-4D97-AF65-F5344CB8AC3E}">
        <p14:creationId xmlns:p14="http://schemas.microsoft.com/office/powerpoint/2010/main" val="10462396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EO Bullet Points">
    <p:spTree>
      <p:nvGrpSpPr>
        <p:cNvPr id="1" name=""/>
        <p:cNvGrpSpPr/>
        <p:nvPr/>
      </p:nvGrpSpPr>
      <p:grpSpPr>
        <a:xfrm>
          <a:off x="0" y="0"/>
          <a:ext cx="0" cy="0"/>
          <a:chOff x="0" y="0"/>
          <a:chExt cx="0" cy="0"/>
        </a:xfrm>
      </p:grpSpPr>
      <p:sp>
        <p:nvSpPr>
          <p:cNvPr id="12" name="Picture Placeholder 13">
            <a:extLst>
              <a:ext uri="{FF2B5EF4-FFF2-40B4-BE49-F238E27FC236}">
                <a16:creationId xmlns:a16="http://schemas.microsoft.com/office/drawing/2014/main" id="{2DB97592-C4D5-B315-7F11-AA14F6EE8A62}"/>
              </a:ext>
            </a:extLst>
          </p:cNvPr>
          <p:cNvSpPr>
            <a:spLocks noGrp="1"/>
          </p:cNvSpPr>
          <p:nvPr>
            <p:ph type="pic" sz="quarter" idx="13"/>
          </p:nvPr>
        </p:nvSpPr>
        <p:spPr>
          <a:xfrm>
            <a:off x="313593" y="4536078"/>
            <a:ext cx="2143858" cy="529698"/>
          </a:xfrm>
          <a:prstGeom prst="rect">
            <a:avLst/>
          </a:prstGeom>
        </p:spPr>
        <p:txBody>
          <a:bodyPr/>
          <a:lstStyle/>
          <a:p>
            <a:endParaRPr lang="en-US" dirty="0"/>
          </a:p>
        </p:txBody>
      </p:sp>
      <p:sp>
        <p:nvSpPr>
          <p:cNvPr id="3" name="Shape 1">
            <a:extLst>
              <a:ext uri="{FF2B5EF4-FFF2-40B4-BE49-F238E27FC236}">
                <a16:creationId xmlns:a16="http://schemas.microsoft.com/office/drawing/2014/main" id="{4EA828A1-D5D6-9ADA-1918-E5FE226673A0}"/>
              </a:ext>
            </a:extLst>
          </p:cNvPr>
          <p:cNvSpPr/>
          <p:nvPr userDrawn="1"/>
        </p:nvSpPr>
        <p:spPr>
          <a:xfrm>
            <a:off x="0" y="606304"/>
            <a:ext cx="9144000" cy="0"/>
          </a:xfrm>
          <a:prstGeom prst="line">
            <a:avLst/>
          </a:prstGeom>
          <a:noFill/>
          <a:ln w="28575">
            <a:solidFill>
              <a:srgbClr val="CC0000"/>
            </a:solidFill>
            <a:prstDash val="solid"/>
          </a:ln>
        </p:spPr>
        <p:txBody>
          <a:bodyPr/>
          <a:lstStyle/>
          <a:p>
            <a:endParaRPr lang="en-US"/>
          </a:p>
        </p:txBody>
      </p:sp>
      <p:sp>
        <p:nvSpPr>
          <p:cNvPr id="9" name="Text Placeholder 8">
            <a:extLst>
              <a:ext uri="{FF2B5EF4-FFF2-40B4-BE49-F238E27FC236}">
                <a16:creationId xmlns:a16="http://schemas.microsoft.com/office/drawing/2014/main" id="{980A86D4-478F-6846-9F0A-B815F2A3AB2D}"/>
              </a:ext>
            </a:extLst>
          </p:cNvPr>
          <p:cNvSpPr>
            <a:spLocks noGrp="1"/>
          </p:cNvSpPr>
          <p:nvPr>
            <p:ph type="body" sz="quarter" idx="10" hasCustomPrompt="1"/>
          </p:nvPr>
        </p:nvSpPr>
        <p:spPr>
          <a:xfrm>
            <a:off x="296863" y="0"/>
            <a:ext cx="8509304" cy="527008"/>
          </a:xfrm>
          <a:prstGeom prst="rect">
            <a:avLst/>
          </a:prstGeom>
        </p:spPr>
        <p:txBody>
          <a:bodyPr/>
          <a:lstStyle>
            <a:lvl1pPr marL="0" marR="0" indent="0" algn="l" defTabSz="914400" rtl="0" eaLnBrk="1" fontAlgn="auto" latinLnBrk="0" hangingPunct="1">
              <a:lnSpc>
                <a:spcPct val="100000"/>
              </a:lnSpc>
              <a:spcBef>
                <a:spcPct val="20000"/>
              </a:spcBef>
              <a:spcAft>
                <a:spcPts val="0"/>
              </a:spcAft>
              <a:buClrTx/>
              <a:buSzTx/>
              <a:buFont typeface="Arial" pitchFamily="34" charset="0"/>
              <a:buNone/>
              <a:tabLst/>
              <a:defRPr sz="2700" b="1">
                <a:latin typeface="Arial" panose="020B0604020202020204" pitchFamily="34" charset="0"/>
                <a:cs typeface="Arial" panose="020B0604020202020204" pitchFamily="34" charset="0"/>
              </a:defRPr>
            </a:lvl1pPr>
          </a:lstStyle>
          <a:p>
            <a:pPr lvl="0"/>
            <a:r>
              <a:rPr lang="en-US" dirty="0"/>
              <a:t>Bullet Points</a:t>
            </a:r>
          </a:p>
        </p:txBody>
      </p:sp>
      <p:sp>
        <p:nvSpPr>
          <p:cNvPr id="4" name="Text Placeholder 3">
            <a:extLst>
              <a:ext uri="{FF2B5EF4-FFF2-40B4-BE49-F238E27FC236}">
                <a16:creationId xmlns:a16="http://schemas.microsoft.com/office/drawing/2014/main" id="{54BEE1A0-720D-187D-95F8-429F3DF3D64E}"/>
              </a:ext>
            </a:extLst>
          </p:cNvPr>
          <p:cNvSpPr>
            <a:spLocks noGrp="1"/>
          </p:cNvSpPr>
          <p:nvPr>
            <p:ph type="body" sz="quarter" idx="14" hasCustomPrompt="1"/>
          </p:nvPr>
        </p:nvSpPr>
        <p:spPr>
          <a:xfrm>
            <a:off x="296863" y="685601"/>
            <a:ext cx="8548687" cy="3811657"/>
          </a:xfrm>
          <a:prstGeom prst="rect">
            <a:avLst/>
          </a:prstGeom>
        </p:spPr>
        <p:txBody>
          <a:bodyPr/>
          <a:lstStyle>
            <a:lvl1pPr>
              <a:defRPr sz="2000" baseline="0">
                <a:solidFill>
                  <a:schemeClr val="tx1"/>
                </a:solidFill>
              </a:defRPr>
            </a:lvl1pPr>
            <a:lvl2pPr>
              <a:buFont typeface="Arial" panose="020B0604020202020204" pitchFamily="34" charset="0"/>
              <a:buChar char="•"/>
              <a:defRPr sz="1600"/>
            </a:lvl2pPr>
            <a:lvl3pPr>
              <a:defRPr sz="1400"/>
            </a:lvl3pPr>
            <a:lvl4pPr>
              <a:buFont typeface="Arial" panose="020B0604020202020204" pitchFamily="34" charset="0"/>
              <a:buChar char="•"/>
              <a:defRPr sz="1200"/>
            </a:lvl4pPr>
          </a:lstStyle>
          <a:p>
            <a:pPr lvl="0"/>
            <a:r>
              <a:rPr lang="en-US" dirty="0"/>
              <a:t>Bullet Point 1</a:t>
            </a:r>
          </a:p>
          <a:p>
            <a:pPr lvl="0"/>
            <a:r>
              <a:rPr lang="en-US" dirty="0"/>
              <a:t>Bullet Point 2</a:t>
            </a:r>
          </a:p>
        </p:txBody>
      </p:sp>
      <p:sp>
        <p:nvSpPr>
          <p:cNvPr id="5" name="Text Placeholder 4">
            <a:extLst>
              <a:ext uri="{FF2B5EF4-FFF2-40B4-BE49-F238E27FC236}">
                <a16:creationId xmlns:a16="http://schemas.microsoft.com/office/drawing/2014/main" id="{162079A5-28FD-9D2F-2B9B-2FC8F9339A31}"/>
              </a:ext>
            </a:extLst>
          </p:cNvPr>
          <p:cNvSpPr>
            <a:spLocks noGrp="1"/>
          </p:cNvSpPr>
          <p:nvPr>
            <p:ph type="body" sz="quarter" idx="15" hasCustomPrompt="1"/>
          </p:nvPr>
        </p:nvSpPr>
        <p:spPr>
          <a:xfrm>
            <a:off x="5627076" y="4738688"/>
            <a:ext cx="3218473" cy="238125"/>
          </a:xfrm>
          <a:prstGeom prst="rect">
            <a:avLst/>
          </a:prstGeom>
        </p:spPr>
        <p:txBody>
          <a:bodyPr/>
          <a:lstStyle>
            <a:lvl5pPr algn="r">
              <a:buNone/>
              <a:defRPr sz="1100"/>
            </a:lvl5pPr>
          </a:lstStyle>
          <a:p>
            <a:pPr lvl="4"/>
            <a:r>
              <a:rPr lang="en-US" dirty="0"/>
              <a:t>Project Name</a:t>
            </a:r>
          </a:p>
        </p:txBody>
      </p:sp>
    </p:spTree>
    <p:extLst>
      <p:ext uri="{BB962C8B-B14F-4D97-AF65-F5344CB8AC3E}">
        <p14:creationId xmlns:p14="http://schemas.microsoft.com/office/powerpoint/2010/main" val="10907377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EO Two Column">
    <p:spTree>
      <p:nvGrpSpPr>
        <p:cNvPr id="1" name=""/>
        <p:cNvGrpSpPr/>
        <p:nvPr/>
      </p:nvGrpSpPr>
      <p:grpSpPr>
        <a:xfrm>
          <a:off x="0" y="0"/>
          <a:ext cx="0" cy="0"/>
          <a:chOff x="0" y="0"/>
          <a:chExt cx="0" cy="0"/>
        </a:xfrm>
      </p:grpSpPr>
      <p:sp>
        <p:nvSpPr>
          <p:cNvPr id="10" name="Picture Placeholder 13">
            <a:extLst>
              <a:ext uri="{FF2B5EF4-FFF2-40B4-BE49-F238E27FC236}">
                <a16:creationId xmlns:a16="http://schemas.microsoft.com/office/drawing/2014/main" id="{6A0FA445-7602-F06E-EC73-5504EBF827CC}"/>
              </a:ext>
            </a:extLst>
          </p:cNvPr>
          <p:cNvSpPr>
            <a:spLocks noGrp="1"/>
          </p:cNvSpPr>
          <p:nvPr>
            <p:ph type="pic" sz="quarter" idx="14"/>
          </p:nvPr>
        </p:nvSpPr>
        <p:spPr>
          <a:xfrm>
            <a:off x="313592" y="4536078"/>
            <a:ext cx="2121877" cy="529698"/>
          </a:xfrm>
          <a:prstGeom prst="rect">
            <a:avLst/>
          </a:prstGeom>
        </p:spPr>
        <p:txBody>
          <a:bodyPr/>
          <a:lstStyle/>
          <a:p>
            <a:endParaRPr lang="en-US" dirty="0"/>
          </a:p>
        </p:txBody>
      </p:sp>
      <p:sp>
        <p:nvSpPr>
          <p:cNvPr id="3" name="Shape 1">
            <a:extLst>
              <a:ext uri="{FF2B5EF4-FFF2-40B4-BE49-F238E27FC236}">
                <a16:creationId xmlns:a16="http://schemas.microsoft.com/office/drawing/2014/main" id="{4EA828A1-D5D6-9ADA-1918-E5FE226673A0}"/>
              </a:ext>
            </a:extLst>
          </p:cNvPr>
          <p:cNvSpPr/>
          <p:nvPr userDrawn="1"/>
        </p:nvSpPr>
        <p:spPr>
          <a:xfrm>
            <a:off x="0" y="606304"/>
            <a:ext cx="9144000" cy="0"/>
          </a:xfrm>
          <a:prstGeom prst="line">
            <a:avLst/>
          </a:prstGeom>
          <a:noFill/>
          <a:ln w="28575">
            <a:solidFill>
              <a:srgbClr val="CC0000"/>
            </a:solidFill>
            <a:prstDash val="solid"/>
          </a:ln>
        </p:spPr>
        <p:txBody>
          <a:bodyPr/>
          <a:lstStyle/>
          <a:p>
            <a:endParaRPr lang="en-US"/>
          </a:p>
        </p:txBody>
      </p:sp>
      <p:sp>
        <p:nvSpPr>
          <p:cNvPr id="9" name="Text Placeholder 8">
            <a:extLst>
              <a:ext uri="{FF2B5EF4-FFF2-40B4-BE49-F238E27FC236}">
                <a16:creationId xmlns:a16="http://schemas.microsoft.com/office/drawing/2014/main" id="{980A86D4-478F-6846-9F0A-B815F2A3AB2D}"/>
              </a:ext>
            </a:extLst>
          </p:cNvPr>
          <p:cNvSpPr>
            <a:spLocks noGrp="1"/>
          </p:cNvSpPr>
          <p:nvPr>
            <p:ph type="body" sz="quarter" idx="10" hasCustomPrompt="1"/>
          </p:nvPr>
        </p:nvSpPr>
        <p:spPr>
          <a:xfrm>
            <a:off x="257174" y="7163"/>
            <a:ext cx="8530738" cy="527013"/>
          </a:xfrm>
          <a:prstGeom prst="rect">
            <a:avLst/>
          </a:prstGeom>
        </p:spPr>
        <p:txBody>
          <a:bodyPr/>
          <a:lstStyle>
            <a:lvl1pPr marL="0" marR="0" indent="0" algn="l" defTabSz="914400" rtl="0" eaLnBrk="1" fontAlgn="auto" latinLnBrk="0" hangingPunct="1">
              <a:lnSpc>
                <a:spcPct val="100000"/>
              </a:lnSpc>
              <a:spcBef>
                <a:spcPct val="20000"/>
              </a:spcBef>
              <a:spcAft>
                <a:spcPts val="0"/>
              </a:spcAft>
              <a:buClrTx/>
              <a:buSzTx/>
              <a:buFont typeface="Arial" pitchFamily="34" charset="0"/>
              <a:buNone/>
              <a:tabLst/>
              <a:defRPr sz="2700" b="1">
                <a:latin typeface="Arial" panose="020B0604020202020204" pitchFamily="34" charset="0"/>
                <a:cs typeface="Arial" panose="020B0604020202020204" pitchFamily="34" charset="0"/>
              </a:defRPr>
            </a:lvl1pPr>
          </a:lstStyle>
          <a:p>
            <a:pPr lvl="0"/>
            <a:r>
              <a:rPr lang="en-US" dirty="0"/>
              <a:t>Two Column Layout</a:t>
            </a:r>
          </a:p>
        </p:txBody>
      </p:sp>
      <p:sp>
        <p:nvSpPr>
          <p:cNvPr id="6" name="Text Placeholder 5">
            <a:extLst>
              <a:ext uri="{FF2B5EF4-FFF2-40B4-BE49-F238E27FC236}">
                <a16:creationId xmlns:a16="http://schemas.microsoft.com/office/drawing/2014/main" id="{229E4A97-A874-D6CA-E54C-5584536CAA7C}"/>
              </a:ext>
            </a:extLst>
          </p:cNvPr>
          <p:cNvSpPr>
            <a:spLocks noGrp="1"/>
          </p:cNvSpPr>
          <p:nvPr>
            <p:ph type="body" sz="quarter" idx="16" hasCustomPrompt="1"/>
          </p:nvPr>
        </p:nvSpPr>
        <p:spPr>
          <a:xfrm>
            <a:off x="193675" y="678433"/>
            <a:ext cx="4431079" cy="3785515"/>
          </a:xfrm>
          <a:prstGeom prst="rect">
            <a:avLst/>
          </a:prstGeom>
        </p:spPr>
        <p:txBody>
          <a:bodyPr/>
          <a:lstStyle>
            <a:lvl1pPr>
              <a:defRPr sz="1800" b="1">
                <a:solidFill>
                  <a:srgbClr val="C00000"/>
                </a:solidFill>
              </a:defRPr>
            </a:lvl1pPr>
            <a:lvl2pPr>
              <a:defRPr sz="1400"/>
            </a:lvl2pPr>
            <a:lvl3pPr>
              <a:defRPr sz="1200"/>
            </a:lvl3pPr>
            <a:lvl4pPr>
              <a:defRPr sz="1200"/>
            </a:lvl4pPr>
            <a:lvl5pPr>
              <a:defRPr sz="1200"/>
            </a:lvl5pPr>
          </a:lstStyle>
          <a:p>
            <a:pPr lvl="0"/>
            <a:r>
              <a:rPr lang="en-US" dirty="0"/>
              <a:t>Left Column Sub Title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Text Placeholder 12">
            <a:extLst>
              <a:ext uri="{FF2B5EF4-FFF2-40B4-BE49-F238E27FC236}">
                <a16:creationId xmlns:a16="http://schemas.microsoft.com/office/drawing/2014/main" id="{EF61ADBD-DA9D-A8A7-8FC3-64E82242B983}"/>
              </a:ext>
            </a:extLst>
          </p:cNvPr>
          <p:cNvSpPr>
            <a:spLocks noGrp="1"/>
          </p:cNvSpPr>
          <p:nvPr>
            <p:ph type="body" sz="quarter" idx="17" hasCustomPrompt="1"/>
          </p:nvPr>
        </p:nvSpPr>
        <p:spPr>
          <a:xfrm>
            <a:off x="4721470" y="678433"/>
            <a:ext cx="4228856" cy="3785515"/>
          </a:xfrm>
          <a:prstGeom prst="rect">
            <a:avLst/>
          </a:prstGeom>
        </p:spPr>
        <p:txBody>
          <a:bodyPr/>
          <a:lstStyle>
            <a:lvl1pPr>
              <a:defRPr sz="1800" b="1">
                <a:solidFill>
                  <a:srgbClr val="C00000"/>
                </a:solidFill>
              </a:defRPr>
            </a:lvl1pPr>
            <a:lvl2pPr>
              <a:defRPr sz="1400"/>
            </a:lvl2pPr>
            <a:lvl3pPr>
              <a:defRPr sz="1200"/>
            </a:lvl3pPr>
            <a:lvl4pPr>
              <a:defRPr sz="1200"/>
            </a:lvl4pPr>
            <a:lvl5pPr>
              <a:defRPr sz="1200"/>
            </a:lvl5pPr>
          </a:lstStyle>
          <a:p>
            <a:pPr lvl="0"/>
            <a:r>
              <a:rPr lang="en-US" dirty="0"/>
              <a:t>Right Column Sub title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4">
            <a:extLst>
              <a:ext uri="{FF2B5EF4-FFF2-40B4-BE49-F238E27FC236}">
                <a16:creationId xmlns:a16="http://schemas.microsoft.com/office/drawing/2014/main" id="{5DF49ED0-89F0-F008-ADD7-D71F338C8B9B}"/>
              </a:ext>
            </a:extLst>
          </p:cNvPr>
          <p:cNvSpPr>
            <a:spLocks noGrp="1"/>
          </p:cNvSpPr>
          <p:nvPr>
            <p:ph type="body" sz="quarter" idx="15" hasCustomPrompt="1"/>
          </p:nvPr>
        </p:nvSpPr>
        <p:spPr>
          <a:xfrm>
            <a:off x="5697414" y="4681864"/>
            <a:ext cx="3218473" cy="238125"/>
          </a:xfrm>
          <a:prstGeom prst="rect">
            <a:avLst/>
          </a:prstGeom>
        </p:spPr>
        <p:txBody>
          <a:bodyPr/>
          <a:lstStyle>
            <a:lvl5pPr algn="r">
              <a:buNone/>
              <a:defRPr sz="1100"/>
            </a:lvl5pPr>
          </a:lstStyle>
          <a:p>
            <a:pPr lvl="4"/>
            <a:r>
              <a:rPr lang="en-US" dirty="0"/>
              <a:t>Project Name</a:t>
            </a:r>
          </a:p>
        </p:txBody>
      </p:sp>
    </p:spTree>
    <p:extLst>
      <p:ext uri="{BB962C8B-B14F-4D97-AF65-F5344CB8AC3E}">
        <p14:creationId xmlns:p14="http://schemas.microsoft.com/office/powerpoint/2010/main" val="12437309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EO Table">
    <p:spTree>
      <p:nvGrpSpPr>
        <p:cNvPr id="1" name=""/>
        <p:cNvGrpSpPr/>
        <p:nvPr/>
      </p:nvGrpSpPr>
      <p:grpSpPr>
        <a:xfrm>
          <a:off x="0" y="0"/>
          <a:ext cx="0" cy="0"/>
          <a:chOff x="0" y="0"/>
          <a:chExt cx="0" cy="0"/>
        </a:xfrm>
      </p:grpSpPr>
      <p:sp>
        <p:nvSpPr>
          <p:cNvPr id="12" name="Picture Placeholder 13">
            <a:extLst>
              <a:ext uri="{FF2B5EF4-FFF2-40B4-BE49-F238E27FC236}">
                <a16:creationId xmlns:a16="http://schemas.microsoft.com/office/drawing/2014/main" id="{2DB97592-C4D5-B315-7F11-AA14F6EE8A62}"/>
              </a:ext>
            </a:extLst>
          </p:cNvPr>
          <p:cNvSpPr>
            <a:spLocks noGrp="1"/>
          </p:cNvSpPr>
          <p:nvPr>
            <p:ph type="pic" sz="quarter" idx="13"/>
          </p:nvPr>
        </p:nvSpPr>
        <p:spPr>
          <a:xfrm>
            <a:off x="313592" y="4536078"/>
            <a:ext cx="2126273" cy="529698"/>
          </a:xfrm>
          <a:prstGeom prst="rect">
            <a:avLst/>
          </a:prstGeom>
        </p:spPr>
        <p:txBody>
          <a:bodyPr/>
          <a:lstStyle/>
          <a:p>
            <a:endParaRPr lang="en-US" dirty="0"/>
          </a:p>
        </p:txBody>
      </p:sp>
      <p:sp>
        <p:nvSpPr>
          <p:cNvPr id="3" name="Shape 1">
            <a:extLst>
              <a:ext uri="{FF2B5EF4-FFF2-40B4-BE49-F238E27FC236}">
                <a16:creationId xmlns:a16="http://schemas.microsoft.com/office/drawing/2014/main" id="{4EA828A1-D5D6-9ADA-1918-E5FE226673A0}"/>
              </a:ext>
            </a:extLst>
          </p:cNvPr>
          <p:cNvSpPr/>
          <p:nvPr userDrawn="1"/>
        </p:nvSpPr>
        <p:spPr>
          <a:xfrm>
            <a:off x="0" y="606304"/>
            <a:ext cx="9144000" cy="0"/>
          </a:xfrm>
          <a:prstGeom prst="line">
            <a:avLst/>
          </a:prstGeom>
          <a:noFill/>
          <a:ln w="28575">
            <a:solidFill>
              <a:srgbClr val="CC0000"/>
            </a:solidFill>
            <a:prstDash val="solid"/>
          </a:ln>
        </p:spPr>
        <p:txBody>
          <a:bodyPr/>
          <a:lstStyle/>
          <a:p>
            <a:endParaRPr lang="en-US"/>
          </a:p>
        </p:txBody>
      </p:sp>
      <p:sp>
        <p:nvSpPr>
          <p:cNvPr id="9" name="Text Placeholder 8">
            <a:extLst>
              <a:ext uri="{FF2B5EF4-FFF2-40B4-BE49-F238E27FC236}">
                <a16:creationId xmlns:a16="http://schemas.microsoft.com/office/drawing/2014/main" id="{980A86D4-478F-6846-9F0A-B815F2A3AB2D}"/>
              </a:ext>
            </a:extLst>
          </p:cNvPr>
          <p:cNvSpPr>
            <a:spLocks noGrp="1"/>
          </p:cNvSpPr>
          <p:nvPr>
            <p:ph type="body" sz="quarter" idx="10" hasCustomPrompt="1"/>
          </p:nvPr>
        </p:nvSpPr>
        <p:spPr>
          <a:xfrm>
            <a:off x="256855" y="39642"/>
            <a:ext cx="8710933" cy="527013"/>
          </a:xfrm>
          <a:prstGeom prst="rect">
            <a:avLst/>
          </a:prstGeom>
        </p:spPr>
        <p:txBody>
          <a:bodyPr/>
          <a:lstStyle>
            <a:lvl1pPr marL="0" marR="0" indent="0" algn="ctr" defTabSz="914400" rtl="0" eaLnBrk="1" fontAlgn="auto" latinLnBrk="0" hangingPunct="1">
              <a:lnSpc>
                <a:spcPct val="100000"/>
              </a:lnSpc>
              <a:spcBef>
                <a:spcPct val="20000"/>
              </a:spcBef>
              <a:spcAft>
                <a:spcPts val="0"/>
              </a:spcAft>
              <a:buClrTx/>
              <a:buSzTx/>
              <a:buFont typeface="Arial" pitchFamily="34" charset="0"/>
              <a:buNone/>
              <a:tabLst/>
              <a:defRPr sz="2700">
                <a:latin typeface="Arial" panose="020B0604020202020204" pitchFamily="34" charset="0"/>
                <a:cs typeface="Arial" panose="020B0604020202020204" pitchFamily="34" charset="0"/>
              </a:defRPr>
            </a:lvl1pP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lang="en-US" sz="2700" b="1" dirty="0">
                <a:solidFill>
                  <a:srgbClr val="2C3E50"/>
                </a:solidFill>
                <a:latin typeface="Arial" pitchFamily="34" charset="0"/>
                <a:cs typeface="Arial" pitchFamily="34" charset="-120"/>
              </a:rPr>
              <a:t>Table</a:t>
            </a:r>
            <a:endParaRPr lang="en-US" sz="3200" dirty="0"/>
          </a:p>
          <a:p>
            <a:pPr lvl="0"/>
            <a:endParaRPr lang="en-US" dirty="0"/>
          </a:p>
        </p:txBody>
      </p:sp>
      <p:sp>
        <p:nvSpPr>
          <p:cNvPr id="5" name="Table Placeholder 4">
            <a:extLst>
              <a:ext uri="{FF2B5EF4-FFF2-40B4-BE49-F238E27FC236}">
                <a16:creationId xmlns:a16="http://schemas.microsoft.com/office/drawing/2014/main" id="{D3D9E4F7-6B7D-2205-75B9-EE8C54E89A5F}"/>
              </a:ext>
            </a:extLst>
          </p:cNvPr>
          <p:cNvSpPr>
            <a:spLocks noGrp="1"/>
          </p:cNvSpPr>
          <p:nvPr>
            <p:ph type="tbl" sz="quarter" idx="14"/>
          </p:nvPr>
        </p:nvSpPr>
        <p:spPr>
          <a:xfrm>
            <a:off x="256855" y="677011"/>
            <a:ext cx="8710933" cy="3785084"/>
          </a:xfrm>
          <a:prstGeom prst="rect">
            <a:avLst/>
          </a:prstGeom>
        </p:spPr>
        <p:txBody>
          <a:bodyPr/>
          <a:lstStyle/>
          <a:p>
            <a:endParaRPr lang="en-US"/>
          </a:p>
        </p:txBody>
      </p:sp>
      <p:sp>
        <p:nvSpPr>
          <p:cNvPr id="4" name="Text Placeholder 4">
            <a:extLst>
              <a:ext uri="{FF2B5EF4-FFF2-40B4-BE49-F238E27FC236}">
                <a16:creationId xmlns:a16="http://schemas.microsoft.com/office/drawing/2014/main" id="{A00DC936-676C-1BAA-B4B4-D45CC5951D6E}"/>
              </a:ext>
            </a:extLst>
          </p:cNvPr>
          <p:cNvSpPr>
            <a:spLocks noGrp="1"/>
          </p:cNvSpPr>
          <p:nvPr>
            <p:ph type="body" sz="quarter" idx="15" hasCustomPrompt="1"/>
          </p:nvPr>
        </p:nvSpPr>
        <p:spPr>
          <a:xfrm>
            <a:off x="5749315" y="4681864"/>
            <a:ext cx="3218473" cy="238125"/>
          </a:xfrm>
          <a:prstGeom prst="rect">
            <a:avLst/>
          </a:prstGeom>
        </p:spPr>
        <p:txBody>
          <a:bodyPr/>
          <a:lstStyle>
            <a:lvl5pPr algn="r">
              <a:buNone/>
              <a:defRPr sz="1100"/>
            </a:lvl5pPr>
          </a:lstStyle>
          <a:p>
            <a:pPr lvl="4"/>
            <a:r>
              <a:rPr lang="en-US" dirty="0"/>
              <a:t>Project Name</a:t>
            </a:r>
          </a:p>
        </p:txBody>
      </p:sp>
    </p:spTree>
    <p:extLst>
      <p:ext uri="{BB962C8B-B14F-4D97-AF65-F5344CB8AC3E}">
        <p14:creationId xmlns:p14="http://schemas.microsoft.com/office/powerpoint/2010/main" val="28148346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EO Visual Content">
    <p:spTree>
      <p:nvGrpSpPr>
        <p:cNvPr id="1" name=""/>
        <p:cNvGrpSpPr/>
        <p:nvPr/>
      </p:nvGrpSpPr>
      <p:grpSpPr>
        <a:xfrm>
          <a:off x="0" y="0"/>
          <a:ext cx="0" cy="0"/>
          <a:chOff x="0" y="0"/>
          <a:chExt cx="0" cy="0"/>
        </a:xfrm>
      </p:grpSpPr>
      <p:sp>
        <p:nvSpPr>
          <p:cNvPr id="10" name="Picture Placeholder 13">
            <a:extLst>
              <a:ext uri="{FF2B5EF4-FFF2-40B4-BE49-F238E27FC236}">
                <a16:creationId xmlns:a16="http://schemas.microsoft.com/office/drawing/2014/main" id="{6A0FA445-7602-F06E-EC73-5504EBF827CC}"/>
              </a:ext>
            </a:extLst>
          </p:cNvPr>
          <p:cNvSpPr>
            <a:spLocks noGrp="1"/>
          </p:cNvSpPr>
          <p:nvPr>
            <p:ph type="pic" sz="quarter" idx="14"/>
          </p:nvPr>
        </p:nvSpPr>
        <p:spPr>
          <a:xfrm>
            <a:off x="313592" y="4536078"/>
            <a:ext cx="2130670" cy="529698"/>
          </a:xfrm>
          <a:prstGeom prst="rect">
            <a:avLst/>
          </a:prstGeom>
        </p:spPr>
        <p:txBody>
          <a:bodyPr/>
          <a:lstStyle/>
          <a:p>
            <a:endParaRPr lang="en-US" dirty="0"/>
          </a:p>
        </p:txBody>
      </p:sp>
      <p:sp>
        <p:nvSpPr>
          <p:cNvPr id="3" name="Shape 1">
            <a:extLst>
              <a:ext uri="{FF2B5EF4-FFF2-40B4-BE49-F238E27FC236}">
                <a16:creationId xmlns:a16="http://schemas.microsoft.com/office/drawing/2014/main" id="{4EA828A1-D5D6-9ADA-1918-E5FE226673A0}"/>
              </a:ext>
            </a:extLst>
          </p:cNvPr>
          <p:cNvSpPr/>
          <p:nvPr userDrawn="1"/>
        </p:nvSpPr>
        <p:spPr>
          <a:xfrm>
            <a:off x="0" y="606304"/>
            <a:ext cx="9144000" cy="0"/>
          </a:xfrm>
          <a:prstGeom prst="line">
            <a:avLst/>
          </a:prstGeom>
          <a:noFill/>
          <a:ln w="28575">
            <a:solidFill>
              <a:srgbClr val="CC0000"/>
            </a:solidFill>
            <a:prstDash val="solid"/>
          </a:ln>
        </p:spPr>
        <p:txBody>
          <a:bodyPr/>
          <a:lstStyle/>
          <a:p>
            <a:endParaRPr lang="en-US"/>
          </a:p>
        </p:txBody>
      </p:sp>
      <p:sp>
        <p:nvSpPr>
          <p:cNvPr id="9" name="Text Placeholder 8">
            <a:extLst>
              <a:ext uri="{FF2B5EF4-FFF2-40B4-BE49-F238E27FC236}">
                <a16:creationId xmlns:a16="http://schemas.microsoft.com/office/drawing/2014/main" id="{980A86D4-478F-6846-9F0A-B815F2A3AB2D}"/>
              </a:ext>
            </a:extLst>
          </p:cNvPr>
          <p:cNvSpPr>
            <a:spLocks noGrp="1"/>
          </p:cNvSpPr>
          <p:nvPr>
            <p:ph type="body" sz="quarter" idx="10" hasCustomPrompt="1"/>
          </p:nvPr>
        </p:nvSpPr>
        <p:spPr>
          <a:xfrm>
            <a:off x="257174" y="7163"/>
            <a:ext cx="8742364" cy="527013"/>
          </a:xfrm>
          <a:prstGeom prst="rect">
            <a:avLst/>
          </a:prstGeom>
        </p:spPr>
        <p:txBody>
          <a:bodyPr/>
          <a:lstStyle>
            <a:lvl1pPr marL="0" marR="0" indent="0" algn="l" defTabSz="914400" rtl="0" eaLnBrk="1" fontAlgn="auto" latinLnBrk="0" hangingPunct="1">
              <a:lnSpc>
                <a:spcPct val="100000"/>
              </a:lnSpc>
              <a:spcBef>
                <a:spcPct val="20000"/>
              </a:spcBef>
              <a:spcAft>
                <a:spcPts val="0"/>
              </a:spcAft>
              <a:buClrTx/>
              <a:buSzTx/>
              <a:buFont typeface="Arial" pitchFamily="34" charset="0"/>
              <a:buNone/>
              <a:tabLst/>
              <a:defRPr sz="2700" b="1">
                <a:latin typeface="Arial" panose="020B0604020202020204" pitchFamily="34" charset="0"/>
                <a:cs typeface="Arial" panose="020B0604020202020204" pitchFamily="34" charset="0"/>
              </a:defRPr>
            </a:lvl1pPr>
          </a:lstStyle>
          <a:p>
            <a:pPr lvl="0"/>
            <a:r>
              <a:rPr lang="en-US" dirty="0"/>
              <a:t>Visual Content</a:t>
            </a:r>
          </a:p>
        </p:txBody>
      </p:sp>
      <p:sp>
        <p:nvSpPr>
          <p:cNvPr id="6" name="Picture Placeholder 5">
            <a:extLst>
              <a:ext uri="{FF2B5EF4-FFF2-40B4-BE49-F238E27FC236}">
                <a16:creationId xmlns:a16="http://schemas.microsoft.com/office/drawing/2014/main" id="{D4B682B8-2171-423F-A77B-10BADD07BC6C}"/>
              </a:ext>
            </a:extLst>
          </p:cNvPr>
          <p:cNvSpPr>
            <a:spLocks noGrp="1"/>
          </p:cNvSpPr>
          <p:nvPr>
            <p:ph type="pic" sz="quarter" idx="15"/>
          </p:nvPr>
        </p:nvSpPr>
        <p:spPr>
          <a:xfrm>
            <a:off x="4662488" y="685799"/>
            <a:ext cx="4337050" cy="3815859"/>
          </a:xfrm>
          <a:prstGeom prst="rect">
            <a:avLst/>
          </a:prstGeom>
        </p:spPr>
        <p:txBody>
          <a:bodyPr/>
          <a:lstStyle/>
          <a:p>
            <a:endParaRPr lang="en-US"/>
          </a:p>
        </p:txBody>
      </p:sp>
      <p:sp>
        <p:nvSpPr>
          <p:cNvPr id="5" name="Text Placeholder 4">
            <a:extLst>
              <a:ext uri="{FF2B5EF4-FFF2-40B4-BE49-F238E27FC236}">
                <a16:creationId xmlns:a16="http://schemas.microsoft.com/office/drawing/2014/main" id="{F1EE9992-B6F6-08BF-BFB5-6AF6BEDE367A}"/>
              </a:ext>
            </a:extLst>
          </p:cNvPr>
          <p:cNvSpPr>
            <a:spLocks noGrp="1"/>
          </p:cNvSpPr>
          <p:nvPr>
            <p:ph type="body" sz="quarter" idx="16"/>
          </p:nvPr>
        </p:nvSpPr>
        <p:spPr>
          <a:xfrm>
            <a:off x="92075" y="685800"/>
            <a:ext cx="4449763" cy="3815859"/>
          </a:xfrm>
          <a:prstGeom prst="rect">
            <a:avLst/>
          </a:prstGeom>
        </p:spPr>
        <p:txBody>
          <a:bodyPr/>
          <a:lstStyle>
            <a:lvl1pPr>
              <a:defRPr sz="1800" b="1">
                <a:solidFill>
                  <a:srgbClr val="C00000"/>
                </a:solidFill>
              </a:defRPr>
            </a:lvl1pPr>
            <a:lvl2pPr>
              <a:defRPr sz="1400"/>
            </a:lvl2pPr>
            <a:lvl3pPr>
              <a:defRPr sz="1200"/>
            </a:lvl3pPr>
            <a:lvl4pPr>
              <a:defRPr sz="1200"/>
            </a:lvl4pPr>
            <a:lvl5pP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ext Placeholder 4">
            <a:extLst>
              <a:ext uri="{FF2B5EF4-FFF2-40B4-BE49-F238E27FC236}">
                <a16:creationId xmlns:a16="http://schemas.microsoft.com/office/drawing/2014/main" id="{6D03683B-7C4B-D474-74C5-EC53E3BB515B}"/>
              </a:ext>
            </a:extLst>
          </p:cNvPr>
          <p:cNvSpPr>
            <a:spLocks noGrp="1"/>
          </p:cNvSpPr>
          <p:nvPr>
            <p:ph type="body" sz="quarter" idx="17" hasCustomPrompt="1"/>
          </p:nvPr>
        </p:nvSpPr>
        <p:spPr>
          <a:xfrm>
            <a:off x="5781065" y="4729530"/>
            <a:ext cx="3218473" cy="238125"/>
          </a:xfrm>
          <a:prstGeom prst="rect">
            <a:avLst/>
          </a:prstGeom>
        </p:spPr>
        <p:txBody>
          <a:bodyPr/>
          <a:lstStyle>
            <a:lvl5pPr algn="r">
              <a:buNone/>
              <a:defRPr sz="1100"/>
            </a:lvl5pPr>
          </a:lstStyle>
          <a:p>
            <a:pPr lvl="4"/>
            <a:r>
              <a:rPr lang="en-US" dirty="0"/>
              <a:t>Project Name</a:t>
            </a:r>
          </a:p>
        </p:txBody>
      </p:sp>
    </p:spTree>
    <p:extLst>
      <p:ext uri="{BB962C8B-B14F-4D97-AF65-F5344CB8AC3E}">
        <p14:creationId xmlns:p14="http://schemas.microsoft.com/office/powerpoint/2010/main" val="9440596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EO Data Visualization">
    <p:spTree>
      <p:nvGrpSpPr>
        <p:cNvPr id="1" name=""/>
        <p:cNvGrpSpPr/>
        <p:nvPr/>
      </p:nvGrpSpPr>
      <p:grpSpPr>
        <a:xfrm>
          <a:off x="0" y="0"/>
          <a:ext cx="0" cy="0"/>
          <a:chOff x="0" y="0"/>
          <a:chExt cx="0" cy="0"/>
        </a:xfrm>
      </p:grpSpPr>
      <p:sp>
        <p:nvSpPr>
          <p:cNvPr id="10" name="Picture Placeholder 13">
            <a:extLst>
              <a:ext uri="{FF2B5EF4-FFF2-40B4-BE49-F238E27FC236}">
                <a16:creationId xmlns:a16="http://schemas.microsoft.com/office/drawing/2014/main" id="{6A0FA445-7602-F06E-EC73-5504EBF827CC}"/>
              </a:ext>
            </a:extLst>
          </p:cNvPr>
          <p:cNvSpPr>
            <a:spLocks noGrp="1"/>
          </p:cNvSpPr>
          <p:nvPr>
            <p:ph type="pic" sz="quarter" idx="14"/>
          </p:nvPr>
        </p:nvSpPr>
        <p:spPr>
          <a:xfrm>
            <a:off x="313592" y="4536078"/>
            <a:ext cx="2104294" cy="529698"/>
          </a:xfrm>
          <a:prstGeom prst="rect">
            <a:avLst/>
          </a:prstGeom>
        </p:spPr>
        <p:txBody>
          <a:bodyPr/>
          <a:lstStyle/>
          <a:p>
            <a:endParaRPr lang="en-US" dirty="0"/>
          </a:p>
        </p:txBody>
      </p:sp>
      <p:sp>
        <p:nvSpPr>
          <p:cNvPr id="3" name="Shape 1">
            <a:extLst>
              <a:ext uri="{FF2B5EF4-FFF2-40B4-BE49-F238E27FC236}">
                <a16:creationId xmlns:a16="http://schemas.microsoft.com/office/drawing/2014/main" id="{4EA828A1-D5D6-9ADA-1918-E5FE226673A0}"/>
              </a:ext>
            </a:extLst>
          </p:cNvPr>
          <p:cNvSpPr/>
          <p:nvPr userDrawn="1"/>
        </p:nvSpPr>
        <p:spPr>
          <a:xfrm>
            <a:off x="0" y="606304"/>
            <a:ext cx="9144000" cy="0"/>
          </a:xfrm>
          <a:prstGeom prst="line">
            <a:avLst/>
          </a:prstGeom>
          <a:noFill/>
          <a:ln w="28575">
            <a:solidFill>
              <a:srgbClr val="CC0000"/>
            </a:solidFill>
            <a:prstDash val="solid"/>
          </a:ln>
        </p:spPr>
        <p:txBody>
          <a:bodyPr/>
          <a:lstStyle/>
          <a:p>
            <a:endParaRPr lang="en-US"/>
          </a:p>
        </p:txBody>
      </p:sp>
      <p:sp>
        <p:nvSpPr>
          <p:cNvPr id="9" name="Text Placeholder 8">
            <a:extLst>
              <a:ext uri="{FF2B5EF4-FFF2-40B4-BE49-F238E27FC236}">
                <a16:creationId xmlns:a16="http://schemas.microsoft.com/office/drawing/2014/main" id="{980A86D4-478F-6846-9F0A-B815F2A3AB2D}"/>
              </a:ext>
            </a:extLst>
          </p:cNvPr>
          <p:cNvSpPr>
            <a:spLocks noGrp="1"/>
          </p:cNvSpPr>
          <p:nvPr>
            <p:ph type="body" sz="quarter" idx="10" hasCustomPrompt="1"/>
          </p:nvPr>
        </p:nvSpPr>
        <p:spPr>
          <a:xfrm>
            <a:off x="257174" y="7163"/>
            <a:ext cx="8640764" cy="527013"/>
          </a:xfrm>
          <a:prstGeom prst="rect">
            <a:avLst/>
          </a:prstGeom>
        </p:spPr>
        <p:txBody>
          <a:bodyPr/>
          <a:lstStyle>
            <a:lvl1pPr marL="0" marR="0" indent="0" algn="l" defTabSz="914400" rtl="0" eaLnBrk="1" fontAlgn="auto" latinLnBrk="0" hangingPunct="1">
              <a:lnSpc>
                <a:spcPct val="100000"/>
              </a:lnSpc>
              <a:spcBef>
                <a:spcPct val="20000"/>
              </a:spcBef>
              <a:spcAft>
                <a:spcPts val="0"/>
              </a:spcAft>
              <a:buClrTx/>
              <a:buSzTx/>
              <a:buFont typeface="Arial" pitchFamily="34" charset="0"/>
              <a:buNone/>
              <a:tabLst/>
              <a:defRPr sz="2700" b="1">
                <a:latin typeface="Arial" panose="020B0604020202020204" pitchFamily="34" charset="0"/>
                <a:cs typeface="Arial" panose="020B0604020202020204" pitchFamily="34" charset="0"/>
              </a:defRPr>
            </a:lvl1pPr>
          </a:lstStyle>
          <a:p>
            <a:pPr lvl="0"/>
            <a:r>
              <a:rPr lang="en-US" dirty="0"/>
              <a:t>Data Visualization</a:t>
            </a:r>
          </a:p>
        </p:txBody>
      </p:sp>
      <p:sp>
        <p:nvSpPr>
          <p:cNvPr id="5" name="Chart Placeholder 4">
            <a:extLst>
              <a:ext uri="{FF2B5EF4-FFF2-40B4-BE49-F238E27FC236}">
                <a16:creationId xmlns:a16="http://schemas.microsoft.com/office/drawing/2014/main" id="{A686C49F-4337-BBE6-FF21-682B01E38601}"/>
              </a:ext>
            </a:extLst>
          </p:cNvPr>
          <p:cNvSpPr>
            <a:spLocks noGrp="1"/>
          </p:cNvSpPr>
          <p:nvPr>
            <p:ph type="chart" sz="quarter" idx="15"/>
          </p:nvPr>
        </p:nvSpPr>
        <p:spPr>
          <a:xfrm>
            <a:off x="4572000" y="685597"/>
            <a:ext cx="4325938" cy="3778347"/>
          </a:xfrm>
          <a:prstGeom prst="rect">
            <a:avLst/>
          </a:prstGeom>
        </p:spPr>
        <p:txBody>
          <a:bodyPr/>
          <a:lstStyle/>
          <a:p>
            <a:endParaRPr lang="en-US"/>
          </a:p>
        </p:txBody>
      </p:sp>
      <p:sp>
        <p:nvSpPr>
          <p:cNvPr id="6" name="Content Placeholder 5">
            <a:extLst>
              <a:ext uri="{FF2B5EF4-FFF2-40B4-BE49-F238E27FC236}">
                <a16:creationId xmlns:a16="http://schemas.microsoft.com/office/drawing/2014/main" id="{D0B730E7-C68E-A3E8-1745-8AF89C786D5F}"/>
              </a:ext>
            </a:extLst>
          </p:cNvPr>
          <p:cNvSpPr>
            <a:spLocks noGrp="1"/>
          </p:cNvSpPr>
          <p:nvPr>
            <p:ph sz="quarter" idx="16"/>
          </p:nvPr>
        </p:nvSpPr>
        <p:spPr>
          <a:xfrm>
            <a:off x="136525" y="678433"/>
            <a:ext cx="4237038" cy="3785513"/>
          </a:xfrm>
          <a:prstGeom prst="rect">
            <a:avLst/>
          </a:prstGeom>
        </p:spPr>
        <p:txBody>
          <a:bodyPr/>
          <a:lstStyle>
            <a:lvl1pPr>
              <a:defRPr sz="1800" b="1">
                <a:solidFill>
                  <a:srgbClr val="C00000"/>
                </a:solidFill>
              </a:defRPr>
            </a:lvl1pPr>
            <a:lvl2pPr>
              <a:defRPr sz="1400"/>
            </a:lvl2pPr>
            <a:lvl3pPr>
              <a:defRPr sz="1200"/>
            </a:lvl3pPr>
            <a:lvl4pPr>
              <a:defRPr sz="1200"/>
            </a:lvl4pPr>
            <a:lvl5pP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4">
            <a:extLst>
              <a:ext uri="{FF2B5EF4-FFF2-40B4-BE49-F238E27FC236}">
                <a16:creationId xmlns:a16="http://schemas.microsoft.com/office/drawing/2014/main" id="{A1231DFE-6A5A-950E-159E-9E1D3D45FD36}"/>
              </a:ext>
            </a:extLst>
          </p:cNvPr>
          <p:cNvSpPr>
            <a:spLocks noGrp="1"/>
          </p:cNvSpPr>
          <p:nvPr>
            <p:ph type="body" sz="quarter" idx="17" hasCustomPrompt="1"/>
          </p:nvPr>
        </p:nvSpPr>
        <p:spPr>
          <a:xfrm>
            <a:off x="5679465" y="4681864"/>
            <a:ext cx="3218473" cy="238125"/>
          </a:xfrm>
          <a:prstGeom prst="rect">
            <a:avLst/>
          </a:prstGeom>
        </p:spPr>
        <p:txBody>
          <a:bodyPr/>
          <a:lstStyle>
            <a:lvl5pPr algn="r">
              <a:buNone/>
              <a:defRPr sz="900"/>
            </a:lvl5pPr>
          </a:lstStyle>
          <a:p>
            <a:pPr lvl="4"/>
            <a:r>
              <a:rPr lang="en-US" dirty="0"/>
              <a:t>Project Name</a:t>
            </a:r>
          </a:p>
        </p:txBody>
      </p:sp>
    </p:spTree>
    <p:extLst>
      <p:ext uri="{BB962C8B-B14F-4D97-AF65-F5344CB8AC3E}">
        <p14:creationId xmlns:p14="http://schemas.microsoft.com/office/powerpoint/2010/main" val="4735494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EO Thank You">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8D36A0E4-7374-4A92-CEC2-AC1CC29B855F}"/>
              </a:ext>
            </a:extLst>
          </p:cNvPr>
          <p:cNvSpPr>
            <a:spLocks noGrp="1"/>
          </p:cNvSpPr>
          <p:nvPr>
            <p:ph type="pic" sz="quarter" idx="10"/>
          </p:nvPr>
        </p:nvSpPr>
        <p:spPr>
          <a:xfrm>
            <a:off x="2180492" y="171206"/>
            <a:ext cx="3978520" cy="1314694"/>
          </a:xfrm>
          <a:prstGeom prst="rect">
            <a:avLst/>
          </a:prstGeom>
        </p:spPr>
        <p:txBody>
          <a:bodyPr/>
          <a:lstStyle/>
          <a:p>
            <a:endParaRPr lang="en-US" dirty="0"/>
          </a:p>
        </p:txBody>
      </p:sp>
      <p:pic>
        <p:nvPicPr>
          <p:cNvPr id="5" name="Image 0" descr="/home/claude/eo-framework-logo.png">
            <a:extLst>
              <a:ext uri="{FF2B5EF4-FFF2-40B4-BE49-F238E27FC236}">
                <a16:creationId xmlns:a16="http://schemas.microsoft.com/office/drawing/2014/main" id="{028AFAE3-D949-BFF8-132D-C3956962B6BC}"/>
              </a:ext>
            </a:extLst>
          </p:cNvPr>
          <p:cNvPicPr>
            <a:picLocks noChangeAspect="1"/>
          </p:cNvPicPr>
          <p:nvPr userDrawn="1"/>
        </p:nvPicPr>
        <p:blipFill>
          <a:blip r:embed="rId2"/>
          <a:stretch>
            <a:fillRect/>
          </a:stretch>
        </p:blipFill>
        <p:spPr>
          <a:xfrm>
            <a:off x="6945879" y="4648200"/>
            <a:ext cx="1952244" cy="417576"/>
          </a:xfrm>
          <a:prstGeom prst="rect">
            <a:avLst/>
          </a:prstGeom>
        </p:spPr>
      </p:pic>
      <p:sp>
        <p:nvSpPr>
          <p:cNvPr id="6" name="Text Placeholder 8">
            <a:extLst>
              <a:ext uri="{FF2B5EF4-FFF2-40B4-BE49-F238E27FC236}">
                <a16:creationId xmlns:a16="http://schemas.microsoft.com/office/drawing/2014/main" id="{ABC2FEB1-3552-40B4-D5D2-8C9A2DF4EF3E}"/>
              </a:ext>
            </a:extLst>
          </p:cNvPr>
          <p:cNvSpPr>
            <a:spLocks noGrp="1"/>
          </p:cNvSpPr>
          <p:nvPr>
            <p:ph type="body" sz="quarter" idx="12" hasCustomPrompt="1"/>
          </p:nvPr>
        </p:nvSpPr>
        <p:spPr>
          <a:xfrm>
            <a:off x="736356" y="2247927"/>
            <a:ext cx="7671288" cy="527050"/>
          </a:xfrm>
          <a:prstGeom prst="rect">
            <a:avLst/>
          </a:prstGeom>
        </p:spPr>
        <p:txBody>
          <a:bodyPr/>
          <a:lstStyle>
            <a:lvl1pPr marL="0" indent="0" algn="ctr">
              <a:lnSpc>
                <a:spcPts val="3600"/>
              </a:lnSpc>
              <a:buNone/>
              <a:defRPr sz="3600" b="1" i="0" baseline="0">
                <a:latin typeface="Arial" panose="020B0604020202020204" pitchFamily="34" charset="0"/>
              </a:defRPr>
            </a:lvl1pPr>
          </a:lstStyle>
          <a:p>
            <a:pPr marL="0" indent="0" algn="ctr">
              <a:lnSpc>
                <a:spcPts val="3600"/>
              </a:lnSpc>
              <a:buNone/>
            </a:pPr>
            <a:r>
              <a:rPr lang="en-US" sz="3600" b="1" dirty="0">
                <a:solidFill>
                  <a:srgbClr val="2C3E50"/>
                </a:solidFill>
                <a:latin typeface="Arial" pitchFamily="34" charset="0"/>
                <a:ea typeface="Arial" pitchFamily="34" charset="-122"/>
                <a:cs typeface="Arial" pitchFamily="34" charset="-120"/>
              </a:rPr>
              <a:t>Thank You</a:t>
            </a:r>
          </a:p>
          <a:p>
            <a:pPr marL="0" indent="0" algn="ctr">
              <a:lnSpc>
                <a:spcPts val="3600"/>
              </a:lnSpc>
              <a:buNone/>
            </a:pPr>
            <a:endParaRPr lang="en-US" sz="3600" dirty="0"/>
          </a:p>
        </p:txBody>
      </p:sp>
      <p:sp>
        <p:nvSpPr>
          <p:cNvPr id="7" name="Picture Placeholder 13">
            <a:extLst>
              <a:ext uri="{FF2B5EF4-FFF2-40B4-BE49-F238E27FC236}">
                <a16:creationId xmlns:a16="http://schemas.microsoft.com/office/drawing/2014/main" id="{86145EB1-48C8-058E-F657-82D57B579544}"/>
              </a:ext>
            </a:extLst>
          </p:cNvPr>
          <p:cNvSpPr>
            <a:spLocks noGrp="1"/>
          </p:cNvSpPr>
          <p:nvPr>
            <p:ph type="pic" sz="quarter" idx="13"/>
          </p:nvPr>
        </p:nvSpPr>
        <p:spPr>
          <a:xfrm>
            <a:off x="313592" y="4536078"/>
            <a:ext cx="2164114" cy="529698"/>
          </a:xfrm>
          <a:prstGeom prst="rect">
            <a:avLst/>
          </a:prstGeom>
        </p:spPr>
        <p:txBody>
          <a:bodyPr/>
          <a:lstStyle/>
          <a:p>
            <a:endParaRPr lang="en-US" dirty="0"/>
          </a:p>
        </p:txBody>
      </p:sp>
      <p:sp>
        <p:nvSpPr>
          <p:cNvPr id="8" name="Text 0">
            <a:extLst>
              <a:ext uri="{FF2B5EF4-FFF2-40B4-BE49-F238E27FC236}">
                <a16:creationId xmlns:a16="http://schemas.microsoft.com/office/drawing/2014/main" id="{D51056DC-8081-0916-0351-65D88D1682B8}"/>
              </a:ext>
            </a:extLst>
          </p:cNvPr>
          <p:cNvSpPr/>
          <p:nvPr userDrawn="1"/>
        </p:nvSpPr>
        <p:spPr>
          <a:xfrm>
            <a:off x="2224455" y="1676475"/>
            <a:ext cx="3886322" cy="45719"/>
          </a:xfrm>
          <a:prstGeom prst="roundRect">
            <a:avLst>
              <a:gd name="adj" fmla="val 50000"/>
            </a:avLst>
          </a:prstGeom>
          <a:solidFill>
            <a:srgbClr val="CC0000"/>
          </a:solidFill>
          <a:ln/>
        </p:spPr>
        <p:txBody>
          <a:bodyPr wrap="square" rtlCol="0" anchor="ctr"/>
          <a:lstStyle/>
          <a:p>
            <a:pPr marL="0" indent="0">
              <a:buNone/>
            </a:pPr>
            <a:endParaRPr lang="en-US" dirty="0"/>
          </a:p>
        </p:txBody>
      </p:sp>
      <p:sp>
        <p:nvSpPr>
          <p:cNvPr id="10" name="Text Placeholder 9">
            <a:extLst>
              <a:ext uri="{FF2B5EF4-FFF2-40B4-BE49-F238E27FC236}">
                <a16:creationId xmlns:a16="http://schemas.microsoft.com/office/drawing/2014/main" id="{DC531180-94E5-3403-56E5-895E003A9D72}"/>
              </a:ext>
            </a:extLst>
          </p:cNvPr>
          <p:cNvSpPr>
            <a:spLocks noGrp="1"/>
          </p:cNvSpPr>
          <p:nvPr>
            <p:ph type="body" sz="quarter" idx="14" hasCustomPrompt="1"/>
          </p:nvPr>
        </p:nvSpPr>
        <p:spPr>
          <a:xfrm>
            <a:off x="1024304" y="1874962"/>
            <a:ext cx="6629399" cy="334598"/>
          </a:xfrm>
          <a:prstGeom prst="rect">
            <a:avLst/>
          </a:prstGeom>
        </p:spPr>
        <p:txBody>
          <a:bodyPr/>
          <a:lstStyle>
            <a:lvl1pPr marL="0" marR="0" indent="0" algn="ctr" defTabSz="914400" rtl="0" eaLnBrk="1" fontAlgn="auto" latinLnBrk="0" hangingPunct="1">
              <a:lnSpc>
                <a:spcPct val="100000"/>
              </a:lnSpc>
              <a:spcBef>
                <a:spcPct val="20000"/>
              </a:spcBef>
              <a:spcAft>
                <a:spcPts val="0"/>
              </a:spcAft>
              <a:buClrTx/>
              <a:buSzTx/>
              <a:buFont typeface="Arial" pitchFamily="34" charset="0"/>
              <a:buNone/>
              <a:tabLst/>
              <a:defRPr sz="1800">
                <a:latin typeface="Arial" panose="020B0604020202020204" pitchFamily="34" charset="0"/>
                <a:cs typeface="Arial" panose="020B0604020202020204" pitchFamily="34" charset="0"/>
              </a:defRPr>
            </a:lvl1p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lang="en-US" sz="1800" dirty="0">
                <a:solidFill>
                  <a:srgbClr val="6C757D"/>
                </a:solidFill>
                <a:latin typeface="Arial" pitchFamily="34" charset="0"/>
                <a:ea typeface="Arial" pitchFamily="34" charset="-122"/>
                <a:cs typeface="Arial" pitchFamily="34" charset="-120"/>
              </a:rPr>
              <a:t>Questions?</a:t>
            </a:r>
            <a:endParaRPr lang="en-US" sz="1800" dirty="0"/>
          </a:p>
        </p:txBody>
      </p:sp>
      <p:sp>
        <p:nvSpPr>
          <p:cNvPr id="2" name="Text 3">
            <a:extLst>
              <a:ext uri="{FF2B5EF4-FFF2-40B4-BE49-F238E27FC236}">
                <a16:creationId xmlns:a16="http://schemas.microsoft.com/office/drawing/2014/main" id="{5727805F-2A15-11D3-243F-1AE09D6E973E}"/>
              </a:ext>
            </a:extLst>
          </p:cNvPr>
          <p:cNvSpPr/>
          <p:nvPr userDrawn="1"/>
        </p:nvSpPr>
        <p:spPr>
          <a:xfrm>
            <a:off x="3312808" y="4536078"/>
            <a:ext cx="2797969" cy="529698"/>
          </a:xfrm>
          <a:prstGeom prst="roundRect">
            <a:avLst>
              <a:gd name="adj" fmla="val 14286"/>
            </a:avLst>
          </a:prstGeom>
          <a:solidFill>
            <a:srgbClr val="F5F5F5"/>
          </a:solidFill>
          <a:ln/>
        </p:spPr>
        <p:txBody>
          <a:bodyPr wrap="square" rtlCol="0" anchor="ctr"/>
          <a:lstStyle/>
          <a:p>
            <a:pPr marL="0" indent="0">
              <a:buNone/>
            </a:pPr>
            <a:endParaRPr lang="en-US" dirty="0"/>
          </a:p>
        </p:txBody>
      </p:sp>
      <p:sp>
        <p:nvSpPr>
          <p:cNvPr id="3" name="Text 4">
            <a:extLst>
              <a:ext uri="{FF2B5EF4-FFF2-40B4-BE49-F238E27FC236}">
                <a16:creationId xmlns:a16="http://schemas.microsoft.com/office/drawing/2014/main" id="{1034B79E-463D-8396-409E-62C28A2DEB04}"/>
              </a:ext>
            </a:extLst>
          </p:cNvPr>
          <p:cNvSpPr/>
          <p:nvPr userDrawn="1"/>
        </p:nvSpPr>
        <p:spPr>
          <a:xfrm>
            <a:off x="3614735" y="4667577"/>
            <a:ext cx="2076688" cy="266700"/>
          </a:xfrm>
          <a:prstGeom prst="rect">
            <a:avLst/>
          </a:prstGeom>
          <a:noFill/>
          <a:ln/>
        </p:spPr>
        <p:txBody>
          <a:bodyPr wrap="square" lIns="0" tIns="0" rIns="0" bIns="0" rtlCol="0" anchor="t"/>
          <a:lstStyle/>
          <a:p>
            <a:pPr marL="0" indent="0" algn="ctr">
              <a:lnSpc>
                <a:spcPts val="2100"/>
              </a:lnSpc>
              <a:spcBef>
                <a:spcPts val="300"/>
              </a:spcBef>
              <a:spcAft>
                <a:spcPts val="300"/>
              </a:spcAft>
              <a:buNone/>
            </a:pPr>
            <a:r>
              <a:rPr lang="en-US" sz="1500" b="1" dirty="0">
                <a:solidFill>
                  <a:schemeClr val="bg2">
                    <a:lumMod val="75000"/>
                  </a:schemeClr>
                </a:solidFill>
                <a:latin typeface="Arial" pitchFamily="34" charset="0"/>
                <a:ea typeface="Arial" pitchFamily="34" charset="-122"/>
                <a:cs typeface="Arial" pitchFamily="34" charset="-120"/>
              </a:rPr>
              <a:t>www.eoframework.org</a:t>
            </a:r>
            <a:endParaRPr lang="en-US" sz="1500" dirty="0">
              <a:solidFill>
                <a:schemeClr val="bg2">
                  <a:lumMod val="75000"/>
                </a:schemeClr>
              </a:solidFill>
            </a:endParaRPr>
          </a:p>
        </p:txBody>
      </p:sp>
      <p:sp>
        <p:nvSpPr>
          <p:cNvPr id="16" name="Text Placeholder 9">
            <a:extLst>
              <a:ext uri="{FF2B5EF4-FFF2-40B4-BE49-F238E27FC236}">
                <a16:creationId xmlns:a16="http://schemas.microsoft.com/office/drawing/2014/main" id="{2DED039B-C555-DCF4-1CA7-CA1E44823784}"/>
              </a:ext>
            </a:extLst>
          </p:cNvPr>
          <p:cNvSpPr>
            <a:spLocks noGrp="1"/>
          </p:cNvSpPr>
          <p:nvPr>
            <p:ph type="body" sz="quarter" idx="15" hasCustomPrompt="1"/>
          </p:nvPr>
        </p:nvSpPr>
        <p:spPr>
          <a:xfrm>
            <a:off x="268165" y="3131272"/>
            <a:ext cx="8480181" cy="334598"/>
          </a:xfrm>
          <a:prstGeom prst="rect">
            <a:avLst/>
          </a:prstGeom>
        </p:spPr>
        <p:txBody>
          <a:bodyPr/>
          <a:lstStyle>
            <a:lvl1pPr marL="0" marR="0" indent="0" algn="ctr" defTabSz="914400" rtl="0" eaLnBrk="1" fontAlgn="auto" latinLnBrk="0" hangingPunct="1">
              <a:lnSpc>
                <a:spcPct val="100000"/>
              </a:lnSpc>
              <a:spcBef>
                <a:spcPct val="20000"/>
              </a:spcBef>
              <a:spcAft>
                <a:spcPts val="0"/>
              </a:spcAft>
              <a:buClrTx/>
              <a:buSzTx/>
              <a:buFont typeface="Arial" pitchFamily="34" charset="0"/>
              <a:buNone/>
              <a:tabLst/>
              <a:defRPr sz="1800" b="0">
                <a:solidFill>
                  <a:schemeClr val="tx1"/>
                </a:solidFill>
                <a:latin typeface="Arial" panose="020B0604020202020204" pitchFamily="34" charset="0"/>
                <a:cs typeface="Arial" panose="020B0604020202020204" pitchFamily="34" charset="0"/>
              </a:defRPr>
            </a:lvl1pPr>
          </a:lstStyle>
          <a:p>
            <a:pPr>
              <a:spcAft>
                <a:spcPts val="1200"/>
              </a:spcAft>
            </a:pPr>
            <a:r>
              <a:rPr lang="en-US" sz="1800" b="1" dirty="0">
                <a:solidFill>
                  <a:srgbClr val="000000"/>
                </a:solidFill>
              </a:rPr>
              <a:t>Account Manager:</a:t>
            </a:r>
            <a:r>
              <a:rPr lang="en-US" sz="1800" dirty="0">
                <a:solidFill>
                  <a:srgbClr val="000000"/>
                </a:solidFill>
              </a:rPr>
              <a:t> [Name, Title] | [Email] | [Phone]</a:t>
            </a:r>
          </a:p>
        </p:txBody>
      </p:sp>
    </p:spTree>
    <p:extLst>
      <p:ext uri="{BB962C8B-B14F-4D97-AF65-F5344CB8AC3E}">
        <p14:creationId xmlns:p14="http://schemas.microsoft.com/office/powerpoint/2010/main" val="3821020057"/>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1" r:id="rId1"/>
    <p:sldLayoutId id="2147483653" r:id="rId2"/>
    <p:sldLayoutId id="2147483659" r:id="rId3"/>
    <p:sldLayoutId id="2147483654" r:id="rId4"/>
    <p:sldLayoutId id="2147483655" r:id="rId5"/>
    <p:sldLayoutId id="2147483656" r:id="rId6"/>
    <p:sldLayoutId id="2147483657" r:id="rId7"/>
    <p:sldLayoutId id="2147483658" r:id="rId8"/>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notesSlide" Target="../notesSlides/notesSlide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9.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2" sz="quarter"/>
          </p:nvPr>
        </p:nvSpPr>
        <p:spPr/>
        <p:txBody>
          <a:bodyPr/>
          <a:lstStyle/>
          <a:p>
            <a:r>
              <a:t>Project Closeout</a:t>
            </a:r>
          </a:p>
        </p:txBody>
      </p:sp>
      <p:sp>
        <p:nvSpPr>
          <p:cNvPr id="5" name="Text Placeholder 4"/>
          <p:cNvSpPr>
            <a:spLocks noGrp="1"/>
          </p:cNvSpPr>
          <p:nvPr>
            <p:ph type="body" idx="14" sz="quarter"/>
          </p:nvPr>
        </p:nvSpPr>
        <p:spPr/>
        <p:txBody>
          <a:bodyPr/>
          <a:lstStyle/>
          <a:p>
            <a:r>
              <a:t>AWS Intelligent Document Processing</a:t>
            </a:r>
          </a:p>
        </p:txBody>
      </p:sp>
      <p:sp>
        <p:nvSpPr>
          <p:cNvPr id="6" name="Text Placeholder 5"/>
          <p:cNvSpPr>
            <a:spLocks noGrp="1"/>
          </p:cNvSpPr>
          <p:nvPr>
            <p:ph type="body" idx="15" sz="quarter"/>
          </p:nvPr>
        </p:nvSpPr>
        <p:spPr/>
        <p:txBody>
          <a:bodyPr/>
          <a:lstStyle/>
          <a:p>
            <a:r>
              <a:t>Project Manager | April 07, 2026</a:t>
            </a:r>
          </a:p>
        </p:txBody>
      </p:sp>
      <p:pic>
        <p:nvPicPr>
          <p:cNvPr id="7" name="Picture 6" descr="client_logo.png"/>
          <p:cNvPicPr>
            <a:picLocks noChangeAspect="1"/>
          </p:cNvPicPr>
          <p:nvPr/>
        </p:nvPicPr>
        <p:blipFill>
          <a:blip r:embed="rId2"/>
          <a:stretch>
            <a:fillRect/>
          </a:stretch>
        </p:blipFill>
        <p:spPr>
          <a:xfrm>
            <a:off x="2180492" y="171206"/>
            <a:ext cx="3978520" cy="1314694"/>
          </a:xfrm>
          <a:prstGeom prst="rect">
            <a:avLst/>
          </a:prstGeom>
        </p:spPr>
      </p:pic>
      <p:pic>
        <p:nvPicPr>
          <p:cNvPr id="8" name="Picture 7" descr="consulting_company_logo.png"/>
          <p:cNvPicPr>
            <a:picLocks noChangeAspect="1"/>
          </p:cNvPicPr>
          <p:nvPr/>
        </p:nvPicPr>
        <p:blipFill>
          <a:blip r:embed="rId3"/>
          <a:stretch>
            <a:fillRect/>
          </a:stretch>
        </p:blipFill>
        <p:spPr>
          <a:xfrm>
            <a:off x="313591" y="4536078"/>
            <a:ext cx="2099897" cy="529698"/>
          </a:xfrm>
          <a:prstGeom prst="rect">
            <a:avLst/>
          </a:prstGeom>
        </p:spPr>
      </p:pic>
      <p:pic>
        <p:nvPicPr>
          <p:cNvPr id="9" name="Picture 8" descr="eo-framework-logo-real.png"/>
          <p:cNvPicPr>
            <a:picLocks noChangeAspect="1"/>
          </p:cNvPicPr>
          <p:nvPr/>
        </p:nvPicPr>
        <p:blipFill>
          <a:blip r:embed="rId4"/>
          <a:stretch>
            <a:fillRect/>
          </a:stretch>
        </p:blipFill>
        <p:spPr>
          <a:xfrm>
            <a:off x="6684264" y="4535424"/>
            <a:ext cx="2139696" cy="530352"/>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0" sz="quarter"/>
          </p:nvPr>
        </p:nvSpPr>
        <p:spPr/>
        <p:txBody>
          <a:bodyPr/>
          <a:lstStyle/>
          <a:p>
            <a:pPr algn="l"/>
            <a:r>
              <a:t>Executive Summary</a:t>
            </a:r>
          </a:p>
        </p:txBody>
      </p:sp>
      <p:sp>
        <p:nvSpPr>
          <p:cNvPr id="4" name="Text Placeholder 3"/>
          <p:cNvSpPr>
            <a:spLocks noGrp="1"/>
          </p:cNvSpPr>
          <p:nvPr>
            <p:ph type="body" idx="14" sz="quarter"/>
          </p:nvPr>
        </p:nvSpPr>
        <p:spPr/>
        <p:txBody>
          <a:bodyPr/>
          <a:lstStyle/>
          <a:p>
            <a:pPr/>
            <a:r>
              <a:rPr b="1"/>
              <a:t>Project Duration:</a:t>
            </a:r>
            <a:r>
              <a:t> 6 months, on schedule</a:t>
            </a:r>
          </a:p>
          <a:p>
            <a:pPr/>
            <a:r>
              <a:rPr b="1"/>
              <a:t>Budget:</a:t>
            </a:r>
            <a:r>
              <a:t> $115,951 delivered on budget</a:t>
            </a:r>
          </a:p>
          <a:p>
            <a:pPr/>
            <a:r>
              <a:rPr b="1"/>
              <a:t>Go-Live Date:</a:t>
            </a:r>
            <a:r>
              <a:t> Week 15 as planned</a:t>
            </a:r>
          </a:p>
          <a:p>
            <a:pPr/>
            <a:r>
              <a:rPr b="1"/>
              <a:t>Quality:</a:t>
            </a:r>
            <a:r>
              <a:t> Zero critical defects at launch</a:t>
            </a:r>
          </a:p>
          <a:p>
            <a:pPr/>
            <a:r>
              <a:rPr b="1"/>
              <a:t>Processing Time:</a:t>
            </a:r>
            <a:r>
              <a:t> 90% reduction achieved</a:t>
            </a:r>
          </a:p>
          <a:p>
            <a:pPr/>
            <a:r>
              <a:rPr b="1"/>
              <a:t>Extraction Accuracy:</a:t>
            </a:r>
            <a:r>
              <a:t> 96.2% (target: 95%)</a:t>
            </a:r>
          </a:p>
          <a:p>
            <a:pPr/>
            <a:r>
              <a:rPr b="1"/>
              <a:t>ROI Status:</a:t>
            </a:r>
            <a:r>
              <a:t> On track for 12-month payback</a:t>
            </a:r>
          </a:p>
        </p:txBody>
      </p:sp>
      <p:sp>
        <p:nvSpPr>
          <p:cNvPr id="5" name="Text Placeholder 4"/>
          <p:cNvSpPr>
            <a:spLocks noGrp="1"/>
          </p:cNvSpPr>
          <p:nvPr>
            <p:ph type="body" idx="15" sz="quarter"/>
          </p:nvPr>
        </p:nvSpPr>
        <p:spPr/>
        <p:txBody>
          <a:bodyPr/>
          <a:lstStyle/>
          <a:p>
            <a:pPr algn="r">
              <a:buNone/>
            </a:pPr>
            <a:r>
              <a:rPr sz="1100">
                <a:solidFill>
                  <a:srgbClr val="CC0000"/>
                </a:solidFill>
              </a:rPr>
              <a:t>AWS Intelligent Document Processing</a:t>
            </a:r>
          </a:p>
        </p:txBody>
      </p:sp>
      <p:pic>
        <p:nvPicPr>
          <p:cNvPr id="6" name="Picture 5" descr="consulting_company_logo.png"/>
          <p:cNvPicPr>
            <a:picLocks noChangeAspect="1"/>
          </p:cNvPicPr>
          <p:nvPr/>
        </p:nvPicPr>
        <p:blipFill>
          <a:blip r:embed="rId3"/>
          <a:stretch>
            <a:fillRect/>
          </a:stretch>
        </p:blipFill>
        <p:spPr>
          <a:xfrm>
            <a:off x="313593" y="4536078"/>
            <a:ext cx="2143858" cy="529698"/>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0" sz="quarter"/>
          </p:nvPr>
        </p:nvSpPr>
        <p:spPr/>
        <p:txBody>
          <a:bodyPr/>
          <a:lstStyle/>
          <a:p>
            <a:pPr algn="l"/>
            <a:r>
              <a:t>Solution Architecture</a:t>
            </a:r>
          </a:p>
        </p:txBody>
      </p:sp>
      <p:sp>
        <p:nvSpPr>
          <p:cNvPr id="5" name="Text Placeholder 4"/>
          <p:cNvSpPr>
            <a:spLocks noGrp="1"/>
          </p:cNvSpPr>
          <p:nvPr>
            <p:ph type="body" idx="16" sz="quarter"/>
          </p:nvPr>
        </p:nvSpPr>
        <p:spPr/>
        <p:txBody>
          <a:bodyPr/>
          <a:lstStyle/>
          <a:p>
            <a:pPr/>
            <a:r>
              <a:rPr b="1"/>
              <a:t>AI/ML Services</a:t>
            </a:r>
          </a:p>
          <a:p>
            <a:pPr lvl="1"/>
            <a:r>
              <a:t>Amazon Textract OCR &amp; forms</a:t>
            </a:r>
          </a:p>
          <a:p>
            <a:pPr lvl="1"/>
            <a:r>
              <a:t>Amazon Comprehend NLP</a:t>
            </a:r>
          </a:p>
          <a:p>
            <a:pPr lvl="1"/>
            <a:r>
              <a:t>Amazon A2I human review</a:t>
            </a:r>
          </a:p>
          <a:p>
            <a:pPr/>
            <a:r>
              <a:rPr b="1"/>
              <a:t>Serverless Platform</a:t>
            </a:r>
          </a:p>
          <a:p>
            <a:pPr lvl="1"/>
            <a:r>
              <a:t>Lambda + Step Functions</a:t>
            </a:r>
          </a:p>
          <a:p>
            <a:pPr lvl="1"/>
            <a:r>
              <a:t>API Gateway, S3, DynamoDB</a:t>
            </a:r>
          </a:p>
          <a:p>
            <a:pPr lvl="1"/>
            <a:r>
              <a:t>CloudWatch monitoring &amp; alerts</a:t>
            </a:r>
          </a:p>
          <a:p>
            <a:pPr/>
            <a:r>
              <a:rPr b="1"/>
              <a:t>Integration</a:t>
            </a:r>
          </a:p>
          <a:p>
            <a:pPr lvl="1"/>
            <a:r>
              <a:t>2 REST APIs to enterprise systems</a:t>
            </a:r>
          </a:p>
          <a:p>
            <a:pPr lvl="1"/>
            <a:r>
              <a:t>Event-driven document processing</a:t>
            </a:r>
          </a:p>
          <a:p>
            <a:pPr lvl="1"/>
            <a:r>
              <a:t>Secure VPC endpoints</a:t>
            </a:r>
          </a:p>
        </p:txBody>
      </p:sp>
      <p:sp>
        <p:nvSpPr>
          <p:cNvPr id="6" name="Text Placeholder 5"/>
          <p:cNvSpPr>
            <a:spLocks noGrp="1"/>
          </p:cNvSpPr>
          <p:nvPr>
            <p:ph type="body" idx="17" sz="quarter"/>
          </p:nvPr>
        </p:nvSpPr>
        <p:spPr/>
        <p:txBody>
          <a:bodyPr/>
          <a:lstStyle/>
          <a:p>
            <a:pPr algn="r">
              <a:buNone/>
            </a:pPr>
            <a:r>
              <a:rPr sz="1100">
                <a:solidFill>
                  <a:srgbClr val="CC0000"/>
                </a:solidFill>
              </a:rPr>
              <a:t>AWS Intelligent Document Processing</a:t>
            </a:r>
          </a:p>
        </p:txBody>
      </p:sp>
      <p:pic>
        <p:nvPicPr>
          <p:cNvPr id="7" name="Picture 6" descr="architecture-diagram.png"/>
          <p:cNvPicPr>
            <a:picLocks noChangeAspect="1"/>
          </p:cNvPicPr>
          <p:nvPr/>
        </p:nvPicPr>
        <p:blipFill>
          <a:blip r:embed="rId2"/>
          <a:stretch>
            <a:fillRect/>
          </a:stretch>
        </p:blipFill>
        <p:spPr>
          <a:xfrm>
            <a:off x="4662488" y="685799"/>
            <a:ext cx="4337050" cy="3815859"/>
          </a:xfrm>
          <a:prstGeom prst="rect">
            <a:avLst/>
          </a:prstGeom>
          <a:ln w="12700">
            <a:solidFill>
              <a:srgbClr val="C0C0C0"/>
            </a:solidFill>
            <a:prstDash val="solid"/>
          </a:ln>
        </p:spPr>
      </p:pic>
      <p:pic>
        <p:nvPicPr>
          <p:cNvPr id="8" name="Picture 7" descr="consulting_company_logo.png"/>
          <p:cNvPicPr>
            <a:picLocks noChangeAspect="1"/>
          </p:cNvPicPr>
          <p:nvPr/>
        </p:nvPicPr>
        <p:blipFill>
          <a:blip r:embed="rId4"/>
          <a:stretch>
            <a:fillRect/>
          </a:stretch>
        </p:blipFill>
        <p:spPr>
          <a:xfrm>
            <a:off x="313592" y="4536078"/>
            <a:ext cx="2130670" cy="529698"/>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0" sz="quarter"/>
          </p:nvPr>
        </p:nvSpPr>
        <p:spPr/>
        <p:txBody>
          <a:bodyPr/>
          <a:lstStyle/>
          <a:p>
            <a:pPr algn="l"/>
            <a:r>
              <a:t>Deliverables Inventory</a:t>
            </a:r>
          </a:p>
        </p:txBody>
      </p:sp>
      <p:graphicFrame>
        <p:nvGraphicFramePr>
          <p:cNvPr id="4" name="Table Placeholder 3"/>
          <p:cNvGraphicFramePr>
            <a:graphicFrameLocks noGrp="1"/>
          </p:cNvGraphicFramePr>
          <p:nvPr>
            <p:ph type="tbl" idx="14" sz="quarter"/>
          </p:nvPr>
        </p:nvGraphicFramePr>
        <p:xfrm>
          <a:off x="256855" y="677011"/>
          <a:ext cx="8710931" cy="3337560"/>
        </p:xfrm>
        <a:graphic>
          <a:graphicData uri="http://schemas.openxmlformats.org/drawingml/2006/table">
            <a:tbl>
              <a:tblPr firstRow="1" bandRow="1">
                <a:tableStyleId>{5C22544A-7EE6-4342-B048-85BDC9FD1C3A}</a:tableStyleId>
              </a:tblPr>
              <a:tblGrid>
                <a:gridCol w="2613279"/>
                <a:gridCol w="3919919"/>
                <a:gridCol w="2177733"/>
              </a:tblGrid>
              <a:tr h="370840">
                <a:tc>
                  <a:txBody>
                    <a:bodyPr/>
                    <a:lstStyle/>
                    <a:p>
                      <a:r>
                        <a:rPr sz="1400">
                          <a:solidFill>
                            <a:srgbClr val="FFFFFF"/>
                          </a:solidFill>
                        </a:rPr>
                        <a:t>Deliverable</a:t>
                      </a:r>
                    </a:p>
                  </a:txBody>
                  <a:tcPr>
                    <a:solidFill>
                      <a:srgbClr val="A01C02"/>
                    </a:solidFill>
                  </a:tcPr>
                </a:tc>
                <a:tc>
                  <a:txBody>
                    <a:bodyPr/>
                    <a:lstStyle/>
                    <a:p>
                      <a:r>
                        <a:rPr sz="1400">
                          <a:solidFill>
                            <a:srgbClr val="FFFFFF"/>
                          </a:solidFill>
                        </a:rPr>
                        <a:t>Purpose</a:t>
                      </a:r>
                    </a:p>
                  </a:txBody>
                  <a:tcPr>
                    <a:solidFill>
                      <a:srgbClr val="A01C02"/>
                    </a:solidFill>
                  </a:tcPr>
                </a:tc>
                <a:tc>
                  <a:txBody>
                    <a:bodyPr/>
                    <a:lstStyle/>
                    <a:p>
                      <a:r>
                        <a:rPr sz="1400">
                          <a:solidFill>
                            <a:srgbClr val="FFFFFF"/>
                          </a:solidFill>
                        </a:rPr>
                        <a:t>Location</a:t>
                      </a:r>
                    </a:p>
                  </a:txBody>
                  <a:tcPr>
                    <a:solidFill>
                      <a:srgbClr val="A01C02"/>
                    </a:solidFill>
                  </a:tcPr>
                </a:tc>
              </a:tr>
              <a:tr h="370840">
                <a:tc>
                  <a:txBody>
                    <a:bodyPr/>
                    <a:lstStyle/>
                    <a:p>
                      <a:r>
                        <a:rPr b="1" sz="1100"/>
                        <a:t>Solution Architecture Document</a:t>
                      </a:r>
                    </a:p>
                  </a:txBody>
                  <a:tcPr>
                    <a:solidFill>
                      <a:srgbClr val="E7E6E6"/>
                    </a:solidFill>
                  </a:tcPr>
                </a:tc>
                <a:tc>
                  <a:txBody>
                    <a:bodyPr/>
                    <a:lstStyle/>
                    <a:p>
                      <a:r>
                        <a:rPr sz="1100"/>
                        <a:t>AWS design, AI/ML configuration, data flows</a:t>
                      </a:r>
                    </a:p>
                  </a:txBody>
                  <a:tcPr>
                    <a:solidFill>
                      <a:srgbClr val="E7E6E6"/>
                    </a:solidFill>
                  </a:tcPr>
                </a:tc>
                <a:tc>
                  <a:txBody>
                    <a:bodyPr/>
                    <a:lstStyle/>
                    <a:p>
                      <a:r>
                        <a:rPr sz="1100"/>
                        <a:t>`/delivery/detailed-design.docx`</a:t>
                      </a:r>
                    </a:p>
                  </a:txBody>
                  <a:tcPr>
                    <a:solidFill>
                      <a:srgbClr val="E7E6E6"/>
                    </a:solidFill>
                  </a:tcPr>
                </a:tc>
              </a:tr>
              <a:tr h="370840">
                <a:tc>
                  <a:txBody>
                    <a:bodyPr/>
                    <a:lstStyle/>
                    <a:p>
                      <a:r>
                        <a:rPr b="1" sz="1100"/>
                        <a:t>Implementation Guide</a:t>
                      </a:r>
                    </a:p>
                  </a:txBody>
                  <a:tcPr>
                    <a:solidFill>
                      <a:srgbClr val="E7E6E6"/>
                    </a:solidFill>
                  </a:tcPr>
                </a:tc>
                <a:tc>
                  <a:txBody>
                    <a:bodyPr/>
                    <a:lstStyle/>
                    <a:p>
                      <a:r>
                        <a:rPr sz="1100"/>
                        <a:t>Step-by-step deployment with CloudFormation</a:t>
                      </a:r>
                    </a:p>
                  </a:txBody>
                  <a:tcPr>
                    <a:solidFill>
                      <a:srgbClr val="E7E6E6"/>
                    </a:solidFill>
                  </a:tcPr>
                </a:tc>
                <a:tc>
                  <a:txBody>
                    <a:bodyPr/>
                    <a:lstStyle/>
                    <a:p>
                      <a:r>
                        <a:rPr sz="1100"/>
                        <a:t>`/delivery/implementation-guide.docx`</a:t>
                      </a:r>
                    </a:p>
                  </a:txBody>
                  <a:tcPr>
                    <a:solidFill>
                      <a:srgbClr val="E7E6E6"/>
                    </a:solidFill>
                  </a:tcPr>
                </a:tc>
              </a:tr>
              <a:tr h="370840">
                <a:tc>
                  <a:txBody>
                    <a:bodyPr/>
                    <a:lstStyle/>
                    <a:p>
                      <a:r>
                        <a:rPr b="1" sz="1100"/>
                        <a:t>Project Plan</a:t>
                      </a:r>
                    </a:p>
                  </a:txBody>
                  <a:tcPr>
                    <a:solidFill>
                      <a:srgbClr val="E7E6E6"/>
                    </a:solidFill>
                  </a:tcPr>
                </a:tc>
                <a:tc>
                  <a:txBody>
                    <a:bodyPr/>
                    <a:lstStyle/>
                    <a:p>
                      <a:r>
                        <a:rPr sz="1100"/>
                        <a:t>Timeline, milestones, RACI, communications</a:t>
                      </a:r>
                    </a:p>
                  </a:txBody>
                  <a:tcPr>
                    <a:solidFill>
                      <a:srgbClr val="E7E6E6"/>
                    </a:solidFill>
                  </a:tcPr>
                </a:tc>
                <a:tc>
                  <a:txBody>
                    <a:bodyPr/>
                    <a:lstStyle/>
                    <a:p>
                      <a:r>
                        <a:rPr sz="1100"/>
                        <a:t>`/delivery/project-plan.xlsx`</a:t>
                      </a:r>
                    </a:p>
                  </a:txBody>
                  <a:tcPr>
                    <a:solidFill>
                      <a:srgbClr val="E7E6E6"/>
                    </a:solidFill>
                  </a:tcPr>
                </a:tc>
              </a:tr>
              <a:tr h="370840">
                <a:tc>
                  <a:txBody>
                    <a:bodyPr/>
                    <a:lstStyle/>
                    <a:p>
                      <a:r>
                        <a:rPr b="1" sz="1100"/>
                        <a:t>Test Plan &amp; Results</a:t>
                      </a:r>
                    </a:p>
                  </a:txBody>
                  <a:tcPr>
                    <a:solidFill>
                      <a:srgbClr val="E7E6E6"/>
                    </a:solidFill>
                  </a:tcPr>
                </a:tc>
                <a:tc>
                  <a:txBody>
                    <a:bodyPr/>
                    <a:lstStyle/>
                    <a:p>
                      <a:r>
                        <a:rPr sz="1100"/>
                        <a:t>Test cases, accuracy validation, UAT results</a:t>
                      </a:r>
                    </a:p>
                  </a:txBody>
                  <a:tcPr>
                    <a:solidFill>
                      <a:srgbClr val="E7E6E6"/>
                    </a:solidFill>
                  </a:tcPr>
                </a:tc>
                <a:tc>
                  <a:txBody>
                    <a:bodyPr/>
                    <a:lstStyle/>
                    <a:p>
                      <a:r>
                        <a:rPr sz="1100"/>
                        <a:t>`/delivery/test-plan.xlsx`</a:t>
                      </a:r>
                    </a:p>
                  </a:txBody>
                  <a:tcPr>
                    <a:solidFill>
                      <a:srgbClr val="E7E6E6"/>
                    </a:solidFill>
                  </a:tcPr>
                </a:tc>
              </a:tr>
              <a:tr h="370840">
                <a:tc>
                  <a:txBody>
                    <a:bodyPr/>
                    <a:lstStyle/>
                    <a:p>
                      <a:r>
                        <a:rPr b="1" sz="1100"/>
                        <a:t>CloudFormation Templates</a:t>
                      </a:r>
                    </a:p>
                  </a:txBody>
                  <a:tcPr>
                    <a:solidFill>
                      <a:srgbClr val="E7E6E6"/>
                    </a:solidFill>
                  </a:tcPr>
                </a:tc>
                <a:tc>
                  <a:txBody>
                    <a:bodyPr/>
                    <a:lstStyle/>
                    <a:p>
                      <a:r>
                        <a:rPr sz="1100"/>
                        <a:t>Infrastructure as Code for all AWS resources</a:t>
                      </a:r>
                    </a:p>
                  </a:txBody>
                  <a:tcPr>
                    <a:solidFill>
                      <a:srgbClr val="E7E6E6"/>
                    </a:solidFill>
                  </a:tcPr>
                </a:tc>
                <a:tc>
                  <a:txBody>
                    <a:bodyPr/>
                    <a:lstStyle/>
                    <a:p>
                      <a:r>
                        <a:rPr sz="1100"/>
                        <a:t>`/delivery/scripts/cloudformation/`</a:t>
                      </a:r>
                    </a:p>
                  </a:txBody>
                  <a:tcPr>
                    <a:solidFill>
                      <a:srgbClr val="E7E6E6"/>
                    </a:solidFill>
                  </a:tcPr>
                </a:tc>
              </a:tr>
              <a:tr h="370840">
                <a:tc>
                  <a:txBody>
                    <a:bodyPr/>
                    <a:lstStyle/>
                    <a:p>
                      <a:r>
                        <a:rPr b="1" sz="1100"/>
                        <a:t>Operations Runbook</a:t>
                      </a:r>
                    </a:p>
                  </a:txBody>
                  <a:tcPr>
                    <a:solidFill>
                      <a:srgbClr val="E7E6E6"/>
                    </a:solidFill>
                  </a:tcPr>
                </a:tc>
                <a:tc>
                  <a:txBody>
                    <a:bodyPr/>
                    <a:lstStyle/>
                    <a:p>
                      <a:r>
                        <a:rPr sz="1100"/>
                        <a:t>Day-to-day procedures and troubleshooting</a:t>
                      </a:r>
                    </a:p>
                  </a:txBody>
                  <a:tcPr>
                    <a:solidFill>
                      <a:srgbClr val="E7E6E6"/>
                    </a:solidFill>
                  </a:tcPr>
                </a:tc>
                <a:tc>
                  <a:txBody>
                    <a:bodyPr/>
                    <a:lstStyle/>
                    <a:p>
                      <a:r>
                        <a:rPr sz="1100"/>
                        <a:t>`/delivery/docs/operations-runbook.md`</a:t>
                      </a:r>
                    </a:p>
                  </a:txBody>
                  <a:tcPr>
                    <a:solidFill>
                      <a:srgbClr val="E7E6E6"/>
                    </a:solidFill>
                  </a:tcPr>
                </a:tc>
              </a:tr>
              <a:tr h="370840">
                <a:tc>
                  <a:txBody>
                    <a:bodyPr/>
                    <a:lstStyle/>
                    <a:p>
                      <a:r>
                        <a:rPr b="1" sz="1100"/>
                        <a:t>Training Materials</a:t>
                      </a:r>
                    </a:p>
                  </a:txBody>
                  <a:tcPr>
                    <a:solidFill>
                      <a:srgbClr val="E7E6E6"/>
                    </a:solidFill>
                  </a:tcPr>
                </a:tc>
                <a:tc>
                  <a:txBody>
                    <a:bodyPr/>
                    <a:lstStyle/>
                    <a:p>
                      <a:r>
                        <a:rPr sz="1100"/>
                        <a:t>User guides, admin guides, video tutorials</a:t>
                      </a:r>
                    </a:p>
                  </a:txBody>
                  <a:tcPr>
                    <a:solidFill>
                      <a:srgbClr val="E7E6E6"/>
                    </a:solidFill>
                  </a:tcPr>
                </a:tc>
                <a:tc>
                  <a:txBody>
                    <a:bodyPr/>
                    <a:lstStyle/>
                    <a:p>
                      <a:r>
                        <a:rPr sz="1100"/>
                        <a:t>`/delivery/training/`</a:t>
                      </a:r>
                    </a:p>
                  </a:txBody>
                  <a:tcPr>
                    <a:solidFill>
                      <a:srgbClr val="E7E6E6"/>
                    </a:solidFill>
                  </a:tcPr>
                </a:tc>
              </a:tr>
              <a:tr h="370840">
                <a:tc>
                  <a:txBody>
                    <a:bodyPr/>
                    <a:lstStyle/>
                    <a:p>
                      <a:r>
                        <a:rPr b="1" sz="1100"/>
                        <a:t>API Documentation</a:t>
                      </a:r>
                    </a:p>
                  </a:txBody>
                  <a:tcPr>
                    <a:solidFill>
                      <a:srgbClr val="E7E6E6"/>
                    </a:solidFill>
                  </a:tcPr>
                </a:tc>
                <a:tc>
                  <a:txBody>
                    <a:bodyPr/>
                    <a:lstStyle/>
                    <a:p>
                      <a:r>
                        <a:rPr sz="1100"/>
                        <a:t>OpenAPI 3.0 spec for all endpoints</a:t>
                      </a:r>
                    </a:p>
                  </a:txBody>
                  <a:tcPr>
                    <a:solidFill>
                      <a:srgbClr val="E7E6E6"/>
                    </a:solidFill>
                  </a:tcPr>
                </a:tc>
                <a:tc>
                  <a:txBody>
                    <a:bodyPr/>
                    <a:lstStyle/>
                    <a:p>
                      <a:r>
                        <a:rPr sz="1100"/>
                        <a:t>`/delivery/docs/api-spec.yaml`</a:t>
                      </a:r>
                    </a:p>
                  </a:txBody>
                  <a:tcPr>
                    <a:solidFill>
                      <a:srgbClr val="E7E6E6"/>
                    </a:solidFill>
                  </a:tcPr>
                </a:tc>
              </a:tr>
            </a:tbl>
          </a:graphicData>
        </a:graphic>
      </p:graphicFrame>
      <p:sp>
        <p:nvSpPr>
          <p:cNvPr id="5" name="Text Placeholder 4"/>
          <p:cNvSpPr>
            <a:spLocks noGrp="1"/>
          </p:cNvSpPr>
          <p:nvPr>
            <p:ph type="body" idx="15" sz="quarter"/>
          </p:nvPr>
        </p:nvSpPr>
        <p:spPr/>
        <p:txBody>
          <a:bodyPr/>
          <a:lstStyle/>
          <a:p>
            <a:pPr algn="r">
              <a:buNone/>
            </a:pPr>
            <a:r>
              <a:rPr sz="1100">
                <a:solidFill>
                  <a:srgbClr val="CC0000"/>
                </a:solidFill>
              </a:rPr>
              <a:t>AWS Intelligent Document Processing</a:t>
            </a:r>
          </a:p>
        </p:txBody>
      </p:sp>
      <p:pic>
        <p:nvPicPr>
          <p:cNvPr id="6" name="Picture 5" descr="consulting_company_logo.png"/>
          <p:cNvPicPr>
            <a:picLocks noChangeAspect="1"/>
          </p:cNvPicPr>
          <p:nvPr/>
        </p:nvPicPr>
        <p:blipFill>
          <a:blip r:embed="rId3"/>
          <a:stretch>
            <a:fillRect/>
          </a:stretch>
        </p:blipFill>
        <p:spPr>
          <a:xfrm>
            <a:off x="313592" y="4536078"/>
            <a:ext cx="2126273" cy="529698"/>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0" sz="quarter"/>
          </p:nvPr>
        </p:nvSpPr>
        <p:spPr/>
        <p:txBody>
          <a:bodyPr/>
          <a:lstStyle/>
          <a:p>
            <a:pPr algn="l"/>
            <a:r>
              <a:t>Quality &amp; Performance</a:t>
            </a:r>
          </a:p>
        </p:txBody>
      </p:sp>
      <p:sp>
        <p:nvSpPr>
          <p:cNvPr id="4" name="Text Placeholder 3"/>
          <p:cNvSpPr>
            <a:spLocks noGrp="1"/>
          </p:cNvSpPr>
          <p:nvPr>
            <p:ph type="body" idx="16" sz="quarter"/>
          </p:nvPr>
        </p:nvSpPr>
        <p:spPr/>
        <p:txBody>
          <a:bodyPr/>
          <a:lstStyle/>
          <a:p>
            <a:pPr/>
            <a:r>
              <a:rPr b="1"/>
              <a:t>Accuracy Metrics</a:t>
            </a:r>
          </a:p>
          <a:p>
            <a:pPr lvl="1"/>
            <a:r>
              <a:t>Overall Extraction: 96.2% (target: 95%)</a:t>
            </a:r>
          </a:p>
          <a:p>
            <a:pPr lvl="1"/>
            <a:r>
              <a:t>Invoice Processing: 97.1%</a:t>
            </a:r>
          </a:p>
          <a:p>
            <a:pPr lvl="1"/>
            <a:r>
              <a:t>Purchase Orders: 95.8%</a:t>
            </a:r>
          </a:p>
          <a:p>
            <a:pPr lvl="1"/>
            <a:r>
              <a:t>Contracts: 95.4%</a:t>
            </a:r>
          </a:p>
          <a:p>
            <a:pPr lvl="1"/>
            <a:r>
              <a:t>Field-Level Accuracy: 98.2%</a:t>
            </a:r>
          </a:p>
        </p:txBody>
      </p:sp>
      <p:sp>
        <p:nvSpPr>
          <p:cNvPr id="5" name="Text Placeholder 4"/>
          <p:cNvSpPr>
            <a:spLocks noGrp="1"/>
          </p:cNvSpPr>
          <p:nvPr>
            <p:ph type="body" idx="17" sz="quarter"/>
          </p:nvPr>
        </p:nvSpPr>
        <p:spPr/>
        <p:txBody>
          <a:bodyPr/>
          <a:lstStyle/>
          <a:p>
            <a:pPr/>
            <a:r>
              <a:rPr b="1"/>
              <a:t>Performance Metrics</a:t>
            </a:r>
          </a:p>
          <a:p>
            <a:pPr lvl="1"/>
            <a:r>
              <a:t>Processing Time: 90 sec (target: &lt;5 min)</a:t>
            </a:r>
          </a:p>
          <a:p>
            <a:pPr lvl="1"/>
            <a:r>
              <a:t>System Uptime: 99.7% (target: 99.5%)</a:t>
            </a:r>
          </a:p>
          <a:p>
            <a:pPr lvl="1"/>
            <a:r>
              <a:t>A2I Review Rate: 15% (target: &lt;20%)</a:t>
            </a:r>
          </a:p>
          <a:p>
            <a:pPr lvl="1"/>
            <a:r>
              <a:t>API Response: 1.2 sec (target: &lt;3 sec)</a:t>
            </a:r>
          </a:p>
          <a:p>
            <a:pPr lvl="1"/>
            <a:r>
              <a:t>Throughput: 5,000 docs/month capacity</a:t>
            </a:r>
          </a:p>
        </p:txBody>
      </p:sp>
      <p:sp>
        <p:nvSpPr>
          <p:cNvPr id="6" name="Text Placeholder 5"/>
          <p:cNvSpPr>
            <a:spLocks noGrp="1"/>
          </p:cNvSpPr>
          <p:nvPr>
            <p:ph type="body" idx="15" sz="quarter"/>
          </p:nvPr>
        </p:nvSpPr>
        <p:spPr/>
        <p:txBody>
          <a:bodyPr/>
          <a:lstStyle/>
          <a:p>
            <a:pPr algn="r">
              <a:buNone/>
            </a:pPr>
            <a:r>
              <a:rPr sz="1100">
                <a:solidFill>
                  <a:srgbClr val="CC0000"/>
                </a:solidFill>
              </a:rPr>
              <a:t>AWS Intelligent Document Processing</a:t>
            </a:r>
          </a:p>
        </p:txBody>
      </p:sp>
      <p:pic>
        <p:nvPicPr>
          <p:cNvPr id="7" name="Picture 6" descr="consulting_company_logo.png"/>
          <p:cNvPicPr>
            <a:picLocks noChangeAspect="1"/>
          </p:cNvPicPr>
          <p:nvPr/>
        </p:nvPicPr>
        <p:blipFill>
          <a:blip r:embed="rId3"/>
          <a:stretch>
            <a:fillRect/>
          </a:stretch>
        </p:blipFill>
        <p:spPr>
          <a:xfrm>
            <a:off x="313592" y="4536078"/>
            <a:ext cx="2121877" cy="529698"/>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0" sz="quarter"/>
          </p:nvPr>
        </p:nvSpPr>
        <p:spPr/>
        <p:txBody>
          <a:bodyPr/>
          <a:lstStyle/>
          <a:p>
            <a:pPr algn="l"/>
            <a:r>
              <a:t>Benefits Realized</a:t>
            </a:r>
          </a:p>
        </p:txBody>
      </p:sp>
      <p:graphicFrame>
        <p:nvGraphicFramePr>
          <p:cNvPr id="4" name="Table Placeholder 3"/>
          <p:cNvGraphicFramePr>
            <a:graphicFrameLocks noGrp="1"/>
          </p:cNvGraphicFramePr>
          <p:nvPr>
            <p:ph type="tbl" idx="14" sz="quarter"/>
          </p:nvPr>
        </p:nvGraphicFramePr>
        <p:xfrm>
          <a:off x="256855" y="677011"/>
          <a:ext cx="8710930" cy="2595880"/>
        </p:xfrm>
        <a:graphic>
          <a:graphicData uri="http://schemas.openxmlformats.org/drawingml/2006/table">
            <a:tbl>
              <a:tblPr firstRow="1" bandRow="1">
                <a:tableStyleId>{5C22544A-7EE6-4342-B048-85BDC9FD1C3A}</a:tableStyleId>
              </a:tblPr>
              <a:tblGrid>
                <a:gridCol w="2613279"/>
                <a:gridCol w="1742186"/>
                <a:gridCol w="1742186"/>
                <a:gridCol w="2613279"/>
              </a:tblGrid>
              <a:tr h="370840">
                <a:tc>
                  <a:txBody>
                    <a:bodyPr/>
                    <a:lstStyle/>
                    <a:p>
                      <a:r>
                        <a:rPr sz="1400">
                          <a:solidFill>
                            <a:srgbClr val="FFFFFF"/>
                          </a:solidFill>
                        </a:rPr>
                        <a:t>Benefit Category</a:t>
                      </a:r>
                    </a:p>
                  </a:txBody>
                  <a:tcPr>
                    <a:solidFill>
                      <a:srgbClr val="A01C02"/>
                    </a:solidFill>
                  </a:tcPr>
                </a:tc>
                <a:tc>
                  <a:txBody>
                    <a:bodyPr/>
                    <a:lstStyle/>
                    <a:p>
                      <a:r>
                        <a:rPr sz="1400">
                          <a:solidFill>
                            <a:srgbClr val="FFFFFF"/>
                          </a:solidFill>
                        </a:rPr>
                        <a:t>SOW Target</a:t>
                      </a:r>
                    </a:p>
                  </a:txBody>
                  <a:tcPr>
                    <a:solidFill>
                      <a:srgbClr val="A01C02"/>
                    </a:solidFill>
                  </a:tcPr>
                </a:tc>
                <a:tc>
                  <a:txBody>
                    <a:bodyPr/>
                    <a:lstStyle/>
                    <a:p>
                      <a:r>
                        <a:rPr sz="1400">
                          <a:solidFill>
                            <a:srgbClr val="FFFFFF"/>
                          </a:solidFill>
                        </a:rPr>
                        <a:t>Achieved</a:t>
                      </a:r>
                    </a:p>
                  </a:txBody>
                  <a:tcPr>
                    <a:solidFill>
                      <a:srgbClr val="A01C02"/>
                    </a:solidFill>
                  </a:tcPr>
                </a:tc>
                <a:tc>
                  <a:txBody>
                    <a:bodyPr/>
                    <a:lstStyle/>
                    <a:p>
                      <a:r>
                        <a:rPr sz="1400">
                          <a:solidFill>
                            <a:srgbClr val="FFFFFF"/>
                          </a:solidFill>
                        </a:rPr>
                        <a:t>Business Impact</a:t>
                      </a:r>
                    </a:p>
                  </a:txBody>
                  <a:tcPr>
                    <a:solidFill>
                      <a:srgbClr val="A01C02"/>
                    </a:solidFill>
                  </a:tcPr>
                </a:tc>
              </a:tr>
              <a:tr h="370840">
                <a:tc>
                  <a:txBody>
                    <a:bodyPr/>
                    <a:lstStyle/>
                    <a:p>
                      <a:r>
                        <a:rPr b="1" sz="1100"/>
                        <a:t>Processing Time</a:t>
                      </a:r>
                    </a:p>
                  </a:txBody>
                  <a:tcPr>
                    <a:solidFill>
                      <a:srgbClr val="E7E6E6"/>
                    </a:solidFill>
                  </a:tcPr>
                </a:tc>
                <a:tc>
                  <a:txBody>
                    <a:bodyPr/>
                    <a:lstStyle/>
                    <a:p>
                      <a:r>
                        <a:rPr sz="1100"/>
                        <a:t>80-90% reduction</a:t>
                      </a:r>
                    </a:p>
                  </a:txBody>
                  <a:tcPr>
                    <a:solidFill>
                      <a:srgbClr val="E7E6E6"/>
                    </a:solidFill>
                  </a:tcPr>
                </a:tc>
                <a:tc>
                  <a:txBody>
                    <a:bodyPr/>
                    <a:lstStyle/>
                    <a:p>
                      <a:r>
                        <a:rPr sz="1100"/>
                        <a:t>90% reduction</a:t>
                      </a:r>
                    </a:p>
                  </a:txBody>
                  <a:tcPr>
                    <a:solidFill>
                      <a:srgbClr val="E7E6E6"/>
                    </a:solidFill>
                  </a:tcPr>
                </a:tc>
                <a:tc>
                  <a:txBody>
                    <a:bodyPr/>
                    <a:lstStyle/>
                    <a:p>
                      <a:r>
                        <a:rPr sz="1100"/>
                        <a:t>15 min to 90 sec per document</a:t>
                      </a:r>
                    </a:p>
                  </a:txBody>
                  <a:tcPr>
                    <a:solidFill>
                      <a:srgbClr val="E7E6E6"/>
                    </a:solidFill>
                  </a:tcPr>
                </a:tc>
              </a:tr>
              <a:tr h="370840">
                <a:tc>
                  <a:txBody>
                    <a:bodyPr/>
                    <a:lstStyle/>
                    <a:p>
                      <a:r>
                        <a:rPr b="1" sz="1100"/>
                        <a:t>Accuracy</a:t>
                      </a:r>
                    </a:p>
                  </a:txBody>
                  <a:tcPr>
                    <a:solidFill>
                      <a:srgbClr val="E7E6E6"/>
                    </a:solidFill>
                  </a:tcPr>
                </a:tc>
                <a:tc>
                  <a:txBody>
                    <a:bodyPr/>
                    <a:lstStyle/>
                    <a:p>
                      <a:r>
                        <a:rPr sz="1100"/>
                        <a:t>95%+ extraction</a:t>
                      </a:r>
                    </a:p>
                  </a:txBody>
                  <a:tcPr>
                    <a:solidFill>
                      <a:srgbClr val="E7E6E6"/>
                    </a:solidFill>
                  </a:tcPr>
                </a:tc>
                <a:tc>
                  <a:txBody>
                    <a:bodyPr/>
                    <a:lstStyle/>
                    <a:p>
                      <a:r>
                        <a:rPr sz="1100"/>
                        <a:t>96.2%</a:t>
                      </a:r>
                    </a:p>
                  </a:txBody>
                  <a:tcPr>
                    <a:solidFill>
                      <a:srgbClr val="E7E6E6"/>
                    </a:solidFill>
                  </a:tcPr>
                </a:tc>
                <a:tc>
                  <a:txBody>
                    <a:bodyPr/>
                    <a:lstStyle/>
                    <a:p>
                      <a:r>
                        <a:rPr sz="1100"/>
                        <a:t>Near elimination of rework</a:t>
                      </a:r>
                    </a:p>
                  </a:txBody>
                  <a:tcPr>
                    <a:solidFill>
                      <a:srgbClr val="E7E6E6"/>
                    </a:solidFill>
                  </a:tcPr>
                </a:tc>
              </a:tr>
              <a:tr h="370840">
                <a:tc>
                  <a:txBody>
                    <a:bodyPr/>
                    <a:lstStyle/>
                    <a:p>
                      <a:r>
                        <a:rPr b="1" sz="1100"/>
                        <a:t>Cost Savings</a:t>
                      </a:r>
                    </a:p>
                  </a:txBody>
                  <a:tcPr>
                    <a:solidFill>
                      <a:srgbClr val="E7E6E6"/>
                    </a:solidFill>
                  </a:tcPr>
                </a:tc>
                <a:tc>
                  <a:txBody>
                    <a:bodyPr/>
                    <a:lstStyle/>
                    <a:p>
                      <a:r>
                        <a:rPr sz="1100"/>
                        <a:t>70% reduction</a:t>
                      </a:r>
                    </a:p>
                  </a:txBody>
                  <a:tcPr>
                    <a:solidFill>
                      <a:srgbClr val="E7E6E6"/>
                    </a:solidFill>
                  </a:tcPr>
                </a:tc>
                <a:tc>
                  <a:txBody>
                    <a:bodyPr/>
                    <a:lstStyle/>
                    <a:p>
                      <a:r>
                        <a:rPr sz="1100"/>
                        <a:t>65% Year 1</a:t>
                      </a:r>
                    </a:p>
                  </a:txBody>
                  <a:tcPr>
                    <a:solidFill>
                      <a:srgbClr val="E7E6E6"/>
                    </a:solidFill>
                  </a:tcPr>
                </a:tc>
                <a:tc>
                  <a:txBody>
                    <a:bodyPr/>
                    <a:lstStyle/>
                    <a:p>
                      <a:r>
                        <a:rPr sz="1100"/>
                        <a:t>$78K savings in first year</a:t>
                      </a:r>
                    </a:p>
                  </a:txBody>
                  <a:tcPr>
                    <a:solidFill>
                      <a:srgbClr val="E7E6E6"/>
                    </a:solidFill>
                  </a:tcPr>
                </a:tc>
              </a:tr>
              <a:tr h="370840">
                <a:tc>
                  <a:txBody>
                    <a:bodyPr/>
                    <a:lstStyle/>
                    <a:p>
                      <a:r>
                        <a:rPr b="1" sz="1100"/>
                        <a:t>Staff Impact</a:t>
                      </a:r>
                    </a:p>
                  </a:txBody>
                  <a:tcPr>
                    <a:solidFill>
                      <a:srgbClr val="E7E6E6"/>
                    </a:solidFill>
                  </a:tcPr>
                </a:tc>
                <a:tc>
                  <a:txBody>
                    <a:bodyPr/>
                    <a:lstStyle/>
                    <a:p>
                      <a:r>
                        <a:rPr sz="1100"/>
                        <a:t>Reduce manual effort</a:t>
                      </a:r>
                    </a:p>
                  </a:txBody>
                  <a:tcPr>
                    <a:solidFill>
                      <a:srgbClr val="E7E6E6"/>
                    </a:solidFill>
                  </a:tcPr>
                </a:tc>
                <a:tc>
                  <a:txBody>
                    <a:bodyPr/>
                    <a:lstStyle/>
                    <a:p>
                      <a:r>
                        <a:rPr sz="1100"/>
                        <a:t>2 FTEs reallocated</a:t>
                      </a:r>
                    </a:p>
                  </a:txBody>
                  <a:tcPr>
                    <a:solidFill>
                      <a:srgbClr val="E7E6E6"/>
                    </a:solidFill>
                  </a:tcPr>
                </a:tc>
                <a:tc>
                  <a:txBody>
                    <a:bodyPr/>
                    <a:lstStyle/>
                    <a:p>
                      <a:r>
                        <a:rPr sz="1100"/>
                        <a:t>Team now on higher-value work</a:t>
                      </a:r>
                    </a:p>
                  </a:txBody>
                  <a:tcPr>
                    <a:solidFill>
                      <a:srgbClr val="E7E6E6"/>
                    </a:solidFill>
                  </a:tcPr>
                </a:tc>
              </a:tr>
              <a:tr h="370840">
                <a:tc>
                  <a:txBody>
                    <a:bodyPr/>
                    <a:lstStyle/>
                    <a:p>
                      <a:r>
                        <a:rPr b="1" sz="1100"/>
                        <a:t>Throughput</a:t>
                      </a:r>
                    </a:p>
                  </a:txBody>
                  <a:tcPr>
                    <a:solidFill>
                      <a:srgbClr val="E7E6E6"/>
                    </a:solidFill>
                  </a:tcPr>
                </a:tc>
                <a:tc>
                  <a:txBody>
                    <a:bodyPr/>
                    <a:lstStyle/>
                    <a:p>
                      <a:r>
                        <a:rPr sz="1100"/>
                        <a:t>Handle growth</a:t>
                      </a:r>
                    </a:p>
                  </a:txBody>
                  <a:tcPr>
                    <a:solidFill>
                      <a:srgbClr val="E7E6E6"/>
                    </a:solidFill>
                  </a:tcPr>
                </a:tc>
                <a:tc>
                  <a:txBody>
                    <a:bodyPr/>
                    <a:lstStyle/>
                    <a:p>
                      <a:r>
                        <a:rPr sz="1100"/>
                        <a:t>5x capacity</a:t>
                      </a:r>
                    </a:p>
                  </a:txBody>
                  <a:tcPr>
                    <a:solidFill>
                      <a:srgbClr val="E7E6E6"/>
                    </a:solidFill>
                  </a:tcPr>
                </a:tc>
                <a:tc>
                  <a:txBody>
                    <a:bodyPr/>
                    <a:lstStyle/>
                    <a:p>
                      <a:r>
                        <a:rPr sz="1100"/>
                        <a:t>Ready for 25K docs/month</a:t>
                      </a:r>
                    </a:p>
                  </a:txBody>
                  <a:tcPr>
                    <a:solidFill>
                      <a:srgbClr val="E7E6E6"/>
                    </a:solidFill>
                  </a:tcPr>
                </a:tc>
              </a:tr>
              <a:tr h="370840">
                <a:tc>
                  <a:txBody>
                    <a:bodyPr/>
                    <a:lstStyle/>
                    <a:p>
                      <a:r>
                        <a:rPr b="1" sz="1100"/>
                        <a:t>Compliance</a:t>
                      </a:r>
                    </a:p>
                  </a:txBody>
                  <a:tcPr>
                    <a:solidFill>
                      <a:srgbClr val="E7E6E6"/>
                    </a:solidFill>
                  </a:tcPr>
                </a:tc>
                <a:tc>
                  <a:txBody>
                    <a:bodyPr/>
                    <a:lstStyle/>
                    <a:p>
                      <a:r>
                        <a:rPr sz="1100"/>
                        <a:t>Audit ready</a:t>
                      </a:r>
                    </a:p>
                  </a:txBody>
                  <a:tcPr>
                    <a:solidFill>
                      <a:srgbClr val="E7E6E6"/>
                    </a:solidFill>
                  </a:tcPr>
                </a:tc>
                <a:tc>
                  <a:txBody>
                    <a:bodyPr/>
                    <a:lstStyle/>
                    <a:p>
                      <a:r>
                        <a:rPr sz="1100"/>
                        <a:t>Full audit trail</a:t>
                      </a:r>
                    </a:p>
                  </a:txBody>
                  <a:tcPr>
                    <a:solidFill>
                      <a:srgbClr val="E7E6E6"/>
                    </a:solidFill>
                  </a:tcPr>
                </a:tc>
                <a:tc>
                  <a:txBody>
                    <a:bodyPr/>
                    <a:lstStyle/>
                    <a:p>
                      <a:r>
                        <a:rPr sz="1100"/>
                        <a:t>CloudTrail + document lineage</a:t>
                      </a:r>
                    </a:p>
                  </a:txBody>
                  <a:tcPr>
                    <a:solidFill>
                      <a:srgbClr val="E7E6E6"/>
                    </a:solidFill>
                  </a:tcPr>
                </a:tc>
              </a:tr>
            </a:tbl>
          </a:graphicData>
        </a:graphic>
      </p:graphicFrame>
      <p:sp>
        <p:nvSpPr>
          <p:cNvPr id="5" name="Text Placeholder 4"/>
          <p:cNvSpPr>
            <a:spLocks noGrp="1"/>
          </p:cNvSpPr>
          <p:nvPr>
            <p:ph type="body" idx="15" sz="quarter"/>
          </p:nvPr>
        </p:nvSpPr>
        <p:spPr/>
        <p:txBody>
          <a:bodyPr/>
          <a:lstStyle/>
          <a:p>
            <a:pPr algn="r">
              <a:buNone/>
            </a:pPr>
            <a:r>
              <a:rPr sz="1100">
                <a:solidFill>
                  <a:srgbClr val="CC0000"/>
                </a:solidFill>
              </a:rPr>
              <a:t>AWS Intelligent Document Processing</a:t>
            </a:r>
          </a:p>
        </p:txBody>
      </p:sp>
      <p:pic>
        <p:nvPicPr>
          <p:cNvPr id="6" name="Picture 5" descr="consulting_company_logo.png"/>
          <p:cNvPicPr>
            <a:picLocks noChangeAspect="1"/>
          </p:cNvPicPr>
          <p:nvPr/>
        </p:nvPicPr>
        <p:blipFill>
          <a:blip r:embed="rId3"/>
          <a:stretch>
            <a:fillRect/>
          </a:stretch>
        </p:blipFill>
        <p:spPr>
          <a:xfrm>
            <a:off x="313592" y="4536078"/>
            <a:ext cx="2126273" cy="529698"/>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0" sz="quarter"/>
          </p:nvPr>
        </p:nvSpPr>
        <p:spPr/>
        <p:txBody>
          <a:bodyPr/>
          <a:lstStyle/>
          <a:p>
            <a:pPr algn="l"/>
            <a:r>
              <a:t>Lessons Learned &amp; Recommendations</a:t>
            </a:r>
          </a:p>
        </p:txBody>
      </p:sp>
      <p:sp>
        <p:nvSpPr>
          <p:cNvPr id="4" name="Text Placeholder 3"/>
          <p:cNvSpPr>
            <a:spLocks noGrp="1"/>
          </p:cNvSpPr>
          <p:nvPr>
            <p:ph type="body" idx="16" sz="quarter"/>
          </p:nvPr>
        </p:nvSpPr>
        <p:spPr/>
        <p:txBody>
          <a:bodyPr/>
          <a:lstStyle/>
          <a:p>
            <a:pPr/>
            <a:r>
              <a:rPr b="1"/>
              <a:t>What Worked Well</a:t>
            </a:r>
          </a:p>
          <a:p>
            <a:pPr lvl="1"/>
            <a:r>
              <a:t>Pilot phase validated accuracy early</a:t>
            </a:r>
          </a:p>
          <a:p>
            <a:pPr lvl="1"/>
            <a:r>
              <a:t>A2I human review as safety net</a:t>
            </a:r>
          </a:p>
          <a:p>
            <a:pPr lvl="1"/>
            <a:r>
              <a:t>Phased cutover reduced risk</a:t>
            </a:r>
          </a:p>
          <a:p>
            <a:pPr lvl="1"/>
            <a:r>
              <a:t>Weekly stakeholder demos</a:t>
            </a:r>
          </a:p>
          <a:p>
            <a:pPr lvl="1"/>
            <a:r>
              <a:t>Infrastructure as Code deployment</a:t>
            </a:r>
          </a:p>
          <a:p>
            <a:pPr/>
            <a:r>
              <a:rPr b="1"/>
              <a:t>Challenges Overcome</a:t>
            </a:r>
          </a:p>
          <a:p>
            <a:pPr lvl="1"/>
            <a:r>
              <a:t>Document quality variation</a:t>
            </a:r>
          </a:p>
          <a:p>
            <a:pPr lvl="1"/>
            <a:r>
              <a:t>Integration timing alignment</a:t>
            </a:r>
          </a:p>
          <a:p>
            <a:pPr lvl="1"/>
            <a:r>
              <a:t>User adoption concerns</a:t>
            </a:r>
          </a:p>
          <a:p>
            <a:pPr lvl="1"/>
            <a:r>
              <a:t>Legacy system compatibility</a:t>
            </a:r>
          </a:p>
          <a:p>
            <a:pPr lvl="1"/>
            <a:r>
              <a:t>Training data preparation</a:t>
            </a:r>
          </a:p>
        </p:txBody>
      </p:sp>
      <p:sp>
        <p:nvSpPr>
          <p:cNvPr id="5" name="Text Placeholder 4"/>
          <p:cNvSpPr>
            <a:spLocks noGrp="1"/>
          </p:cNvSpPr>
          <p:nvPr>
            <p:ph type="body" idx="17" sz="quarter"/>
          </p:nvPr>
        </p:nvSpPr>
        <p:spPr/>
        <p:txBody>
          <a:bodyPr/>
          <a:lstStyle/>
          <a:p>
            <a:pPr/>
            <a:r>
              <a:rPr b="1"/>
              <a:t>Recommendations</a:t>
            </a:r>
          </a:p>
          <a:p>
            <a:pPr lvl="1"/>
            <a:r>
              <a:t>Add 2-3 more document types</a:t>
            </a:r>
          </a:p>
          <a:p>
            <a:pPr lvl="1"/>
            <a:r>
              <a:t>Implement feedback loop</a:t>
            </a:r>
          </a:p>
          <a:p>
            <a:pPr lvl="1"/>
            <a:r>
              <a:t>Consider A2I workflow optimization</a:t>
            </a:r>
          </a:p>
          <a:p>
            <a:pPr lvl="1"/>
            <a:r>
              <a:t>Plan for volume growth</a:t>
            </a:r>
          </a:p>
          <a:p>
            <a:pPr lvl="1"/>
            <a:r>
              <a:t>Quarterly accuracy reviews</a:t>
            </a:r>
          </a:p>
        </p:txBody>
      </p:sp>
      <p:sp>
        <p:nvSpPr>
          <p:cNvPr id="6" name="Text Placeholder 5"/>
          <p:cNvSpPr>
            <a:spLocks noGrp="1"/>
          </p:cNvSpPr>
          <p:nvPr>
            <p:ph type="body" idx="15" sz="quarter"/>
          </p:nvPr>
        </p:nvSpPr>
        <p:spPr/>
        <p:txBody>
          <a:bodyPr/>
          <a:lstStyle/>
          <a:p>
            <a:pPr algn="r">
              <a:buNone/>
            </a:pPr>
            <a:r>
              <a:rPr sz="1100">
                <a:solidFill>
                  <a:srgbClr val="CC0000"/>
                </a:solidFill>
              </a:rPr>
              <a:t>AWS Intelligent Document Processing</a:t>
            </a:r>
          </a:p>
        </p:txBody>
      </p:sp>
      <p:pic>
        <p:nvPicPr>
          <p:cNvPr id="7" name="Picture 6" descr="consulting_company_logo.png"/>
          <p:cNvPicPr>
            <a:picLocks noChangeAspect="1"/>
          </p:cNvPicPr>
          <p:nvPr/>
        </p:nvPicPr>
        <p:blipFill>
          <a:blip r:embed="rId3"/>
          <a:stretch>
            <a:fillRect/>
          </a:stretch>
        </p:blipFill>
        <p:spPr>
          <a:xfrm>
            <a:off x="313592" y="4536078"/>
            <a:ext cx="2121877" cy="529698"/>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0" sz="quarter"/>
          </p:nvPr>
        </p:nvSpPr>
        <p:spPr/>
        <p:txBody>
          <a:bodyPr/>
          <a:lstStyle/>
          <a:p>
            <a:pPr algn="l"/>
            <a:r>
              <a:t>Support Transition</a:t>
            </a:r>
          </a:p>
        </p:txBody>
      </p:sp>
      <p:sp>
        <p:nvSpPr>
          <p:cNvPr id="4" name="Text Placeholder 3"/>
          <p:cNvSpPr>
            <a:spLocks noGrp="1"/>
          </p:cNvSpPr>
          <p:nvPr>
            <p:ph type="body" idx="16" sz="quarter"/>
          </p:nvPr>
        </p:nvSpPr>
        <p:spPr/>
        <p:txBody>
          <a:bodyPr/>
          <a:lstStyle/>
          <a:p>
            <a:pPr/>
            <a:r>
              <a:rPr b="1"/>
              <a:t>Hypercare Complete (30 days)</a:t>
            </a:r>
          </a:p>
          <a:p>
            <a:pPr lvl="1"/>
            <a:r>
              <a:t>Daily health checks completed</a:t>
            </a:r>
          </a:p>
          <a:p>
            <a:pPr lvl="1"/>
            <a:r>
              <a:t>3 P3 issues resolved</a:t>
            </a:r>
          </a:p>
          <a:p>
            <a:pPr lvl="1"/>
            <a:r>
              <a:t>Knowledge transfer sessions done</a:t>
            </a:r>
          </a:p>
          <a:p>
            <a:pPr lvl="1"/>
            <a:r>
              <a:t>Runbook procedures validated</a:t>
            </a:r>
          </a:p>
          <a:p>
            <a:pPr lvl="1"/>
            <a:r>
              <a:t>Team fully trained and certified</a:t>
            </a:r>
          </a:p>
          <a:p>
            <a:pPr/>
            <a:r>
              <a:rPr b="1"/>
              <a:t>Steady State Support</a:t>
            </a:r>
          </a:p>
          <a:p>
            <a:pPr lvl="1"/>
            <a:r>
              <a:t>Business hours monitoring</a:t>
            </a:r>
          </a:p>
          <a:p>
            <a:pPr lvl="1"/>
            <a:r>
              <a:t>Monthly performance reviews</a:t>
            </a:r>
          </a:p>
          <a:p>
            <a:pPr lvl="1"/>
            <a:r>
              <a:t>Quarterly optimization checks</a:t>
            </a:r>
          </a:p>
          <a:p>
            <a:pPr lvl="1"/>
            <a:r>
              <a:t>Automated alerting configured</a:t>
            </a:r>
          </a:p>
          <a:p>
            <a:pPr lvl="1"/>
            <a:r>
              <a:t>Documentation fully maintained</a:t>
            </a:r>
          </a:p>
        </p:txBody>
      </p:sp>
      <p:sp>
        <p:nvSpPr>
          <p:cNvPr id="5" name="Text Placeholder 4"/>
          <p:cNvSpPr>
            <a:spLocks noGrp="1"/>
          </p:cNvSpPr>
          <p:nvPr>
            <p:ph type="body" idx="17" sz="quarter"/>
          </p:nvPr>
        </p:nvSpPr>
        <p:spPr/>
        <p:txBody>
          <a:bodyPr/>
          <a:lstStyle/>
          <a:p>
            <a:pPr/>
            <a:r>
              <a:rPr b="1"/>
              <a:t>Escalation Path</a:t>
            </a:r>
          </a:p>
          <a:p>
            <a:pPr lvl="1"/>
            <a:r>
              <a:t>L1: Internal IT Help Desk</a:t>
            </a:r>
          </a:p>
          <a:p>
            <a:pPr lvl="1"/>
            <a:r>
              <a:t>L2: IT Support Team</a:t>
            </a:r>
          </a:p>
          <a:p>
            <a:pPr lvl="1"/>
            <a:r>
              <a:t>L3: Vendor Support (optional)</a:t>
            </a:r>
          </a:p>
          <a:p>
            <a:pPr lvl="1"/>
            <a:r>
              <a:t>Emergency: On-call rotation</a:t>
            </a:r>
          </a:p>
          <a:p>
            <a:pPr lvl="1"/>
            <a:r>
              <a:t>Executive: Account Manager</a:t>
            </a:r>
          </a:p>
        </p:txBody>
      </p:sp>
      <p:sp>
        <p:nvSpPr>
          <p:cNvPr id="6" name="Text Placeholder 5"/>
          <p:cNvSpPr>
            <a:spLocks noGrp="1"/>
          </p:cNvSpPr>
          <p:nvPr>
            <p:ph type="body" idx="15" sz="quarter"/>
          </p:nvPr>
        </p:nvSpPr>
        <p:spPr/>
        <p:txBody>
          <a:bodyPr/>
          <a:lstStyle/>
          <a:p>
            <a:pPr algn="r">
              <a:buNone/>
            </a:pPr>
            <a:r>
              <a:rPr sz="1100">
                <a:solidFill>
                  <a:srgbClr val="CC0000"/>
                </a:solidFill>
              </a:rPr>
              <a:t>AWS Intelligent Document Processing</a:t>
            </a:r>
          </a:p>
        </p:txBody>
      </p:sp>
      <p:pic>
        <p:nvPicPr>
          <p:cNvPr id="7" name="Picture 6" descr="consulting_company_logo.png"/>
          <p:cNvPicPr>
            <a:picLocks noChangeAspect="1"/>
          </p:cNvPicPr>
          <p:nvPr/>
        </p:nvPicPr>
        <p:blipFill>
          <a:blip r:embed="rId3"/>
          <a:stretch>
            <a:fillRect/>
          </a:stretch>
        </p:blipFill>
        <p:spPr>
          <a:xfrm>
            <a:off x="313592" y="4536078"/>
            <a:ext cx="2121877" cy="529698"/>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0" sz="quarter"/>
          </p:nvPr>
        </p:nvSpPr>
        <p:spPr/>
        <p:txBody>
          <a:bodyPr/>
          <a:lstStyle/>
          <a:p>
            <a:pPr algn="l"/>
            <a:r>
              <a:t>Acknowledgments &amp; Next Steps</a:t>
            </a:r>
          </a:p>
        </p:txBody>
      </p:sp>
      <p:sp>
        <p:nvSpPr>
          <p:cNvPr id="4" name="Text Placeholder 3"/>
          <p:cNvSpPr>
            <a:spLocks noGrp="1"/>
          </p:cNvSpPr>
          <p:nvPr>
            <p:ph type="body" idx="14" sz="quarter"/>
          </p:nvPr>
        </p:nvSpPr>
        <p:spPr/>
        <p:txBody>
          <a:bodyPr/>
          <a:lstStyle/>
          <a:p>
            <a:pPr/>
            <a:r>
              <a:rPr b="1"/>
              <a:t>Client Team:</a:t>
            </a:r>
            <a:r>
              <a:t> Executive sponsor, IT team, business SMEs, document processing team</a:t>
            </a:r>
          </a:p>
          <a:p>
            <a:pPr/>
            <a:r>
              <a:rPr b="1"/>
              <a:t>Vendor Team:</a:t>
            </a:r>
            <a:r>
              <a:t> Project manager, solutions architect, ML engineer, support team</a:t>
            </a:r>
          </a:p>
          <a:p>
            <a:pPr/>
            <a:r>
              <a:rPr b="1"/>
              <a:t>Special Recognition:</a:t>
            </a:r>
            <a:r>
              <a:t> Document processing team for training data labeling and UAT dedication</a:t>
            </a:r>
          </a:p>
          <a:p>
            <a:pPr/>
            <a:r>
              <a:rPr b="1"/>
              <a:t>This Week:</a:t>
            </a:r>
            <a:r>
              <a:t> Final documentation handover, archive project artifacts</a:t>
            </a:r>
          </a:p>
          <a:p>
            <a:pPr/>
            <a:r>
              <a:rPr b="1"/>
              <a:t>Next 30 Days:</a:t>
            </a:r>
            <a:r>
              <a:t> Monthly performance review, identify Phase 2 candidates</a:t>
            </a:r>
          </a:p>
          <a:p>
            <a:pPr/>
            <a:r>
              <a:rPr b="1"/>
              <a:t>Next Quarter:</a:t>
            </a:r>
            <a:r>
              <a:t> Phase 2 planning workshop for additional document types</a:t>
            </a:r>
          </a:p>
        </p:txBody>
      </p:sp>
      <p:sp>
        <p:nvSpPr>
          <p:cNvPr id="5" name="Text Placeholder 4"/>
          <p:cNvSpPr>
            <a:spLocks noGrp="1"/>
          </p:cNvSpPr>
          <p:nvPr>
            <p:ph type="body" idx="15" sz="quarter"/>
          </p:nvPr>
        </p:nvSpPr>
        <p:spPr/>
        <p:txBody>
          <a:bodyPr/>
          <a:lstStyle/>
          <a:p>
            <a:pPr algn="r">
              <a:buNone/>
            </a:pPr>
            <a:r>
              <a:rPr sz="1100">
                <a:solidFill>
                  <a:srgbClr val="CC0000"/>
                </a:solidFill>
              </a:rPr>
              <a:t>AWS Intelligent Document Processing</a:t>
            </a:r>
          </a:p>
        </p:txBody>
      </p:sp>
      <p:pic>
        <p:nvPicPr>
          <p:cNvPr id="6" name="Picture 5" descr="consulting_company_logo.png"/>
          <p:cNvPicPr>
            <a:picLocks noChangeAspect="1"/>
          </p:cNvPicPr>
          <p:nvPr/>
        </p:nvPicPr>
        <p:blipFill>
          <a:blip r:embed="rId3"/>
          <a:stretch>
            <a:fillRect/>
          </a:stretch>
        </p:blipFill>
        <p:spPr>
          <a:xfrm>
            <a:off x="313593" y="4536078"/>
            <a:ext cx="2143858" cy="529698"/>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2" sz="quarter"/>
          </p:nvPr>
        </p:nvSpPr>
        <p:spPr/>
        <p:txBody>
          <a:bodyPr/>
          <a:lstStyle/>
          <a:p>
            <a:r>
              <a:t>Thank You</a:t>
            </a:r>
          </a:p>
        </p:txBody>
      </p:sp>
      <p:sp>
        <p:nvSpPr>
          <p:cNvPr id="5" name="Text Placeholder 4"/>
          <p:cNvSpPr>
            <a:spLocks noGrp="1"/>
          </p:cNvSpPr>
          <p:nvPr>
            <p:ph type="body" idx="14" sz="quarter"/>
          </p:nvPr>
        </p:nvSpPr>
        <p:spPr/>
        <p:txBody>
          <a:bodyPr/>
          <a:lstStyle/>
          <a:p/>
        </p:txBody>
      </p:sp>
      <p:sp>
        <p:nvSpPr>
          <p:cNvPr id="6" name="Text Placeholder 5"/>
          <p:cNvSpPr>
            <a:spLocks noGrp="1"/>
          </p:cNvSpPr>
          <p:nvPr>
            <p:ph type="body" idx="15" sz="quarter"/>
          </p:nvPr>
        </p:nvSpPr>
        <p:spPr/>
        <p:txBody>
          <a:bodyPr/>
          <a:lstStyle/>
          <a:p/>
        </p:txBody>
      </p:sp>
      <p:pic>
        <p:nvPicPr>
          <p:cNvPr id="7" name="Picture 6" descr="client_logo.png"/>
          <p:cNvPicPr>
            <a:picLocks noChangeAspect="1"/>
          </p:cNvPicPr>
          <p:nvPr/>
        </p:nvPicPr>
        <p:blipFill>
          <a:blip r:embed="rId3"/>
          <a:stretch>
            <a:fillRect/>
          </a:stretch>
        </p:blipFill>
        <p:spPr>
          <a:xfrm>
            <a:off x="2180492" y="171206"/>
            <a:ext cx="3978520" cy="1314694"/>
          </a:xfrm>
          <a:prstGeom prst="rect">
            <a:avLst/>
          </a:prstGeom>
        </p:spPr>
      </p:pic>
      <p:pic>
        <p:nvPicPr>
          <p:cNvPr id="8" name="Picture 7" descr="consulting_company_logo.png"/>
          <p:cNvPicPr>
            <a:picLocks noChangeAspect="1"/>
          </p:cNvPicPr>
          <p:nvPr/>
        </p:nvPicPr>
        <p:blipFill>
          <a:blip r:embed="rId4"/>
          <a:stretch>
            <a:fillRect/>
          </a:stretch>
        </p:blipFill>
        <p:spPr>
          <a:xfrm>
            <a:off x="313592" y="4536078"/>
            <a:ext cx="2164114" cy="529698"/>
          </a:xfrm>
          <a:prstGeom prst="rect">
            <a:avLst/>
          </a:prstGeom>
        </p:spPr>
      </p:pic>
      <p:pic>
        <p:nvPicPr>
          <p:cNvPr id="9" name="Picture 8" descr="eo-framework-logo-real.png"/>
          <p:cNvPicPr>
            <a:picLocks noChangeAspect="1"/>
          </p:cNvPicPr>
          <p:nvPr/>
        </p:nvPicPr>
        <p:blipFill>
          <a:blip r:embed="rId5"/>
          <a:stretch>
            <a:fillRect/>
          </a:stretch>
        </p:blipFill>
        <p:spPr>
          <a:xfrm>
            <a:off x="6684264" y="4535424"/>
            <a:ext cx="2139696" cy="530352"/>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441</TotalTime>
  <Words>42</Words>
  <Application>Microsoft Office PowerPoint</Application>
  <PresentationFormat>On-screen Show (16:9)</PresentationFormat>
  <Paragraphs>21</Paragraphs>
  <Slides>7</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Aptos</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EOFramework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EOFramework Template</dc:title>
  <dc:subject>PptxGenJS Presentation</dc:subject>
  <dc:creator>EOFramework</dc:creator>
  <cp:lastModifiedBy>Kishan Siram</cp:lastModifiedBy>
  <cp:revision>86</cp:revision>
  <dcterms:created xsi:type="dcterms:W3CDTF">2025-11-01T21:16:10Z</dcterms:created>
  <dcterms:modified xsi:type="dcterms:W3CDTF">2025-11-27T20:15:42Z</dcterms:modified>
</cp:coreProperties>
</file>